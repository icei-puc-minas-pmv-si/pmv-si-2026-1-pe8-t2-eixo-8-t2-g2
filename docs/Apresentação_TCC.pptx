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ovelo" charset="1" panose="02000000000000000000"/>
      <p:regular r:id="rId18"/>
    </p:embeddedFont>
    <p:embeddedFont>
      <p:font typeface="TT Firs Neue Bold" charset="1" panose="02000803030000020004"/>
      <p:regular r:id="rId19"/>
    </p:embeddedFont>
    <p:embeddedFont>
      <p:font typeface="TT Firs Neue" charset="1" panose="0200050303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2" Target="../media/image28.jpe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26.png" Type="http://schemas.openxmlformats.org/officeDocument/2006/relationships/image"/><Relationship Id="rId12" Target="../media/image27.svg" Type="http://schemas.openxmlformats.org/officeDocument/2006/relationships/image"/><Relationship Id="rId2" Target="../media/image35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2" Target="../media/image41.png" Type="http://schemas.openxmlformats.org/officeDocument/2006/relationships/image"/><Relationship Id="rId3" Target="../media/image42.jpeg" Type="http://schemas.openxmlformats.org/officeDocument/2006/relationships/image"/><Relationship Id="rId4" Target="../media/image4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2" Target="../media/image44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31.png" Type="http://schemas.openxmlformats.org/officeDocument/2006/relationships/image"/><Relationship Id="rId14" Target="../media/image32.svg" Type="http://schemas.openxmlformats.org/officeDocument/2006/relationships/image"/><Relationship Id="rId2" Target="../media/image45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svg" Type="http://schemas.openxmlformats.org/officeDocument/2006/relationships/image"/><Relationship Id="rId12" Target="../media/image52.png" Type="http://schemas.openxmlformats.org/officeDocument/2006/relationships/image"/><Relationship Id="rId13" Target="../media/image53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23106" y="2872141"/>
            <a:ext cx="11041788" cy="4670500"/>
            <a:chOff x="0" y="0"/>
            <a:chExt cx="2908125" cy="12300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8125" cy="1230091"/>
            </a:xfrm>
            <a:custGeom>
              <a:avLst/>
              <a:gdLst/>
              <a:ahLst/>
              <a:cxnLst/>
              <a:rect r="r" b="b" t="t" l="l"/>
              <a:pathLst>
                <a:path h="1230091" w="2908125">
                  <a:moveTo>
                    <a:pt x="35759" y="0"/>
                  </a:moveTo>
                  <a:lnTo>
                    <a:pt x="2872367" y="0"/>
                  </a:lnTo>
                  <a:cubicBezTo>
                    <a:pt x="2892116" y="0"/>
                    <a:pt x="2908125" y="16010"/>
                    <a:pt x="2908125" y="35759"/>
                  </a:cubicBezTo>
                  <a:lnTo>
                    <a:pt x="2908125" y="1194332"/>
                  </a:lnTo>
                  <a:cubicBezTo>
                    <a:pt x="2908125" y="1214081"/>
                    <a:pt x="2892116" y="1230091"/>
                    <a:pt x="2872367" y="1230091"/>
                  </a:cubicBezTo>
                  <a:lnTo>
                    <a:pt x="35759" y="1230091"/>
                  </a:lnTo>
                  <a:cubicBezTo>
                    <a:pt x="16010" y="1230091"/>
                    <a:pt x="0" y="1214081"/>
                    <a:pt x="0" y="1194332"/>
                  </a:cubicBezTo>
                  <a:lnTo>
                    <a:pt x="0" y="35759"/>
                  </a:lnTo>
                  <a:cubicBezTo>
                    <a:pt x="0" y="16010"/>
                    <a:pt x="16010" y="0"/>
                    <a:pt x="35759" y="0"/>
                  </a:cubicBezTo>
                  <a:close/>
                </a:path>
              </a:pathLst>
            </a:custGeom>
            <a:solidFill>
              <a:srgbClr val="BF7070"/>
            </a:solidFill>
            <a:ln w="66675" cap="rnd">
              <a:solidFill>
                <a:srgbClr val="8B433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08125" cy="1268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41069" y="2378694"/>
            <a:ext cx="4205863" cy="1101171"/>
          </a:xfrm>
          <a:custGeom>
            <a:avLst/>
            <a:gdLst/>
            <a:ahLst/>
            <a:cxnLst/>
            <a:rect r="r" b="b" t="t" l="l"/>
            <a:pathLst>
              <a:path h="1101171" w="4205863">
                <a:moveTo>
                  <a:pt x="0" y="0"/>
                </a:moveTo>
                <a:lnTo>
                  <a:pt x="4205862" y="0"/>
                </a:lnTo>
                <a:lnTo>
                  <a:pt x="4205862" y="1101171"/>
                </a:lnTo>
                <a:lnTo>
                  <a:pt x="0" y="1101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43439" y="5075030"/>
            <a:ext cx="10276474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Conf</a:t>
            </a:r>
            <a:r>
              <a:rPr lang="en-US" sz="6800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eitaria Artesanal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12965" y="6326022"/>
            <a:ext cx="497552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</a:t>
            </a:r>
            <a:r>
              <a:rPr lang="en-US" b="true" sz="240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rojeto de Conclusão de Curso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36182" y="4041840"/>
            <a:ext cx="541563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Sistem</a:t>
            </a:r>
            <a:r>
              <a:rPr lang="en-US" b="true" sz="2400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 de Gestão de Pedidos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967908" y="-405612"/>
            <a:ext cx="20834461" cy="1628876"/>
          </a:xfrm>
          <a:custGeom>
            <a:avLst/>
            <a:gdLst/>
            <a:ahLst/>
            <a:cxnLst/>
            <a:rect r="r" b="b" t="t" l="l"/>
            <a:pathLst>
              <a:path h="1628876" w="20834461">
                <a:moveTo>
                  <a:pt x="0" y="0"/>
                </a:moveTo>
                <a:lnTo>
                  <a:pt x="20834461" y="0"/>
                </a:lnTo>
                <a:lnTo>
                  <a:pt x="20834461" y="1628876"/>
                </a:lnTo>
                <a:lnTo>
                  <a:pt x="0" y="1628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10210" y="3164500"/>
            <a:ext cx="3751681" cy="1848556"/>
          </a:xfrm>
          <a:custGeom>
            <a:avLst/>
            <a:gdLst/>
            <a:ahLst/>
            <a:cxnLst/>
            <a:rect r="r" b="b" t="t" l="l"/>
            <a:pathLst>
              <a:path h="1848556" w="3751681">
                <a:moveTo>
                  <a:pt x="0" y="0"/>
                </a:moveTo>
                <a:lnTo>
                  <a:pt x="3751681" y="0"/>
                </a:lnTo>
                <a:lnTo>
                  <a:pt x="3751681" y="1848555"/>
                </a:lnTo>
                <a:lnTo>
                  <a:pt x="0" y="18485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95263">
            <a:off x="-1510539" y="3201762"/>
            <a:ext cx="3603225" cy="1775407"/>
          </a:xfrm>
          <a:custGeom>
            <a:avLst/>
            <a:gdLst/>
            <a:ahLst/>
            <a:cxnLst/>
            <a:rect r="r" b="b" t="t" l="l"/>
            <a:pathLst>
              <a:path h="1775407" w="3603225">
                <a:moveTo>
                  <a:pt x="0" y="0"/>
                </a:moveTo>
                <a:lnTo>
                  <a:pt x="3603225" y="0"/>
                </a:lnTo>
                <a:lnTo>
                  <a:pt x="3603225" y="1775407"/>
                </a:lnTo>
                <a:lnTo>
                  <a:pt x="0" y="17754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911148">
            <a:off x="13517464" y="5258295"/>
            <a:ext cx="1681098" cy="2493593"/>
          </a:xfrm>
          <a:custGeom>
            <a:avLst/>
            <a:gdLst/>
            <a:ahLst/>
            <a:cxnLst/>
            <a:rect r="r" b="b" t="t" l="l"/>
            <a:pathLst>
              <a:path h="2493593" w="1681098">
                <a:moveTo>
                  <a:pt x="0" y="0"/>
                </a:moveTo>
                <a:lnTo>
                  <a:pt x="1681098" y="0"/>
                </a:lnTo>
                <a:lnTo>
                  <a:pt x="1681098" y="2493594"/>
                </a:lnTo>
                <a:lnTo>
                  <a:pt x="0" y="24935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914584">
            <a:off x="1782411" y="6315910"/>
            <a:ext cx="2263787" cy="1970438"/>
          </a:xfrm>
          <a:custGeom>
            <a:avLst/>
            <a:gdLst/>
            <a:ahLst/>
            <a:cxnLst/>
            <a:rect r="r" b="b" t="t" l="l"/>
            <a:pathLst>
              <a:path h="1970438" w="2263787">
                <a:moveTo>
                  <a:pt x="0" y="0"/>
                </a:moveTo>
                <a:lnTo>
                  <a:pt x="2263787" y="0"/>
                </a:lnTo>
                <a:lnTo>
                  <a:pt x="2263787" y="1970438"/>
                </a:lnTo>
                <a:lnTo>
                  <a:pt x="0" y="1970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296254">
            <a:off x="16603930" y="7802702"/>
            <a:ext cx="2099998" cy="2191302"/>
          </a:xfrm>
          <a:custGeom>
            <a:avLst/>
            <a:gdLst/>
            <a:ahLst/>
            <a:cxnLst/>
            <a:rect r="r" b="b" t="t" l="l"/>
            <a:pathLst>
              <a:path h="2191302" w="2099998">
                <a:moveTo>
                  <a:pt x="0" y="0"/>
                </a:moveTo>
                <a:lnTo>
                  <a:pt x="2099998" y="0"/>
                </a:lnTo>
                <a:lnTo>
                  <a:pt x="2099998" y="2191302"/>
                </a:lnTo>
                <a:lnTo>
                  <a:pt x="0" y="2191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69348">
            <a:off x="6922434" y="7967108"/>
            <a:ext cx="1613847" cy="1913652"/>
          </a:xfrm>
          <a:custGeom>
            <a:avLst/>
            <a:gdLst/>
            <a:ahLst/>
            <a:cxnLst/>
            <a:rect r="r" b="b" t="t" l="l"/>
            <a:pathLst>
              <a:path h="1913652" w="1613847">
                <a:moveTo>
                  <a:pt x="0" y="0"/>
                </a:moveTo>
                <a:lnTo>
                  <a:pt x="1613847" y="0"/>
                </a:lnTo>
                <a:lnTo>
                  <a:pt x="1613847" y="1913652"/>
                </a:lnTo>
                <a:lnTo>
                  <a:pt x="0" y="19136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1263" y="1985693"/>
            <a:ext cx="7215628" cy="3655261"/>
            <a:chOff x="0" y="0"/>
            <a:chExt cx="1700157" cy="8612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0160" cy="861258"/>
            </a:xfrm>
            <a:custGeom>
              <a:avLst/>
              <a:gdLst/>
              <a:ahLst/>
              <a:cxnLst/>
              <a:rect r="r" b="b" t="t" l="l"/>
              <a:pathLst>
                <a:path h="861258" w="1700160">
                  <a:moveTo>
                    <a:pt x="1353201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51744" y="861258"/>
                  </a:lnTo>
                  <a:cubicBezTo>
                    <a:pt x="1591106" y="861258"/>
                    <a:pt x="1628856" y="845622"/>
                    <a:pt x="1656690" y="817789"/>
                  </a:cubicBezTo>
                  <a:cubicBezTo>
                    <a:pt x="1684523" y="789956"/>
                    <a:pt x="1700160" y="752206"/>
                    <a:pt x="1700160" y="712843"/>
                  </a:cubicBezTo>
                  <a:lnTo>
                    <a:pt x="1700160" y="366141"/>
                  </a:lnTo>
                  <a:cubicBezTo>
                    <a:pt x="1700160" y="329143"/>
                    <a:pt x="1686341" y="293478"/>
                    <a:pt x="1661411" y="266140"/>
                  </a:cubicBezTo>
                  <a:lnTo>
                    <a:pt x="1462868" y="48414"/>
                  </a:lnTo>
                  <a:cubicBezTo>
                    <a:pt x="1434745" y="17574"/>
                    <a:pt x="1394938" y="0"/>
                    <a:pt x="135320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1055" r="0" b="-20465"/>
              </a:stretch>
            </a:blipFill>
            <a:ln w="76200" cap="sq">
              <a:solidFill>
                <a:srgbClr val="8B43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480350" y="6094618"/>
            <a:ext cx="7038823" cy="4691076"/>
            <a:chOff x="0" y="0"/>
            <a:chExt cx="1747167" cy="11644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7167" cy="1164412"/>
            </a:xfrm>
            <a:custGeom>
              <a:avLst/>
              <a:gdLst/>
              <a:ahLst/>
              <a:cxnLst/>
              <a:rect r="r" b="b" t="t" l="l"/>
              <a:pathLst>
                <a:path h="1164412" w="1747167">
                  <a:moveTo>
                    <a:pt x="38496" y="0"/>
                  </a:moveTo>
                  <a:lnTo>
                    <a:pt x="1708671" y="0"/>
                  </a:lnTo>
                  <a:cubicBezTo>
                    <a:pt x="1718881" y="0"/>
                    <a:pt x="1728672" y="4056"/>
                    <a:pt x="1735892" y="11275"/>
                  </a:cubicBezTo>
                  <a:cubicBezTo>
                    <a:pt x="1743111" y="18495"/>
                    <a:pt x="1747167" y="28286"/>
                    <a:pt x="1747167" y="38496"/>
                  </a:cubicBezTo>
                  <a:lnTo>
                    <a:pt x="1747167" y="1125916"/>
                  </a:lnTo>
                  <a:cubicBezTo>
                    <a:pt x="1747167" y="1136126"/>
                    <a:pt x="1743111" y="1145918"/>
                    <a:pt x="1735892" y="1153137"/>
                  </a:cubicBezTo>
                  <a:cubicBezTo>
                    <a:pt x="1728672" y="1160356"/>
                    <a:pt x="1718881" y="1164412"/>
                    <a:pt x="1708671" y="1164412"/>
                  </a:cubicBezTo>
                  <a:lnTo>
                    <a:pt x="38496" y="1164412"/>
                  </a:lnTo>
                  <a:cubicBezTo>
                    <a:pt x="28286" y="1164412"/>
                    <a:pt x="18495" y="1160356"/>
                    <a:pt x="11275" y="1153137"/>
                  </a:cubicBezTo>
                  <a:cubicBezTo>
                    <a:pt x="4056" y="1145918"/>
                    <a:pt x="0" y="1136126"/>
                    <a:pt x="0" y="1125916"/>
                  </a:cubicBezTo>
                  <a:lnTo>
                    <a:pt x="0" y="38496"/>
                  </a:lnTo>
                  <a:cubicBezTo>
                    <a:pt x="0" y="28286"/>
                    <a:pt x="4056" y="18495"/>
                    <a:pt x="11275" y="11275"/>
                  </a:cubicBezTo>
                  <a:cubicBezTo>
                    <a:pt x="18495" y="4056"/>
                    <a:pt x="28286" y="0"/>
                    <a:pt x="38496" y="0"/>
                  </a:cubicBezTo>
                  <a:close/>
                </a:path>
              </a:pathLst>
            </a:custGeom>
            <a:solidFill>
              <a:srgbClr val="F2CBCC"/>
            </a:solidFill>
            <a:ln w="76200" cap="rnd">
              <a:solidFill>
                <a:srgbClr val="8B43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47167" cy="12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411110" y="1985693"/>
            <a:ext cx="7215628" cy="3655261"/>
            <a:chOff x="0" y="0"/>
            <a:chExt cx="1700157" cy="8612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0160" cy="861258"/>
            </a:xfrm>
            <a:custGeom>
              <a:avLst/>
              <a:gdLst/>
              <a:ahLst/>
              <a:cxnLst/>
              <a:rect r="r" b="b" t="t" l="l"/>
              <a:pathLst>
                <a:path h="861258" w="1700160">
                  <a:moveTo>
                    <a:pt x="1353201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51744" y="861258"/>
                  </a:lnTo>
                  <a:cubicBezTo>
                    <a:pt x="1591106" y="861258"/>
                    <a:pt x="1628856" y="845622"/>
                    <a:pt x="1656690" y="817789"/>
                  </a:cubicBezTo>
                  <a:cubicBezTo>
                    <a:pt x="1684523" y="789956"/>
                    <a:pt x="1700160" y="752206"/>
                    <a:pt x="1700160" y="712843"/>
                  </a:cubicBezTo>
                  <a:lnTo>
                    <a:pt x="1700160" y="366141"/>
                  </a:lnTo>
                  <a:cubicBezTo>
                    <a:pt x="1700160" y="329143"/>
                    <a:pt x="1686341" y="293478"/>
                    <a:pt x="1661411" y="266140"/>
                  </a:cubicBezTo>
                  <a:lnTo>
                    <a:pt x="1462868" y="48414"/>
                  </a:lnTo>
                  <a:cubicBezTo>
                    <a:pt x="1434745" y="17574"/>
                    <a:pt x="1394938" y="0"/>
                    <a:pt x="135320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72226" r="0" b="-25178"/>
              </a:stretch>
            </a:blipFill>
            <a:ln w="76200" cap="sq">
              <a:solidFill>
                <a:srgbClr val="8B4338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725348">
            <a:off x="1059751" y="8657010"/>
            <a:ext cx="2440661" cy="1202580"/>
          </a:xfrm>
          <a:custGeom>
            <a:avLst/>
            <a:gdLst/>
            <a:ahLst/>
            <a:cxnLst/>
            <a:rect r="r" b="b" t="t" l="l"/>
            <a:pathLst>
              <a:path h="1202580" w="2440661">
                <a:moveTo>
                  <a:pt x="0" y="0"/>
                </a:moveTo>
                <a:lnTo>
                  <a:pt x="2440661" y="0"/>
                </a:lnTo>
                <a:lnTo>
                  <a:pt x="2440661" y="1202580"/>
                </a:lnTo>
                <a:lnTo>
                  <a:pt x="0" y="12025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95263">
            <a:off x="16501043" y="-8192"/>
            <a:ext cx="2822701" cy="1390822"/>
          </a:xfrm>
          <a:custGeom>
            <a:avLst/>
            <a:gdLst/>
            <a:ahLst/>
            <a:cxnLst/>
            <a:rect r="r" b="b" t="t" l="l"/>
            <a:pathLst>
              <a:path h="1390822" w="2822701">
                <a:moveTo>
                  <a:pt x="0" y="0"/>
                </a:moveTo>
                <a:lnTo>
                  <a:pt x="2822701" y="0"/>
                </a:lnTo>
                <a:lnTo>
                  <a:pt x="2822701" y="1390821"/>
                </a:lnTo>
                <a:lnTo>
                  <a:pt x="0" y="1390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628751">
            <a:off x="556958" y="773591"/>
            <a:ext cx="2082255" cy="1756035"/>
          </a:xfrm>
          <a:custGeom>
            <a:avLst/>
            <a:gdLst/>
            <a:ahLst/>
            <a:cxnLst/>
            <a:rect r="r" b="b" t="t" l="l"/>
            <a:pathLst>
              <a:path h="1756035" w="2082255">
                <a:moveTo>
                  <a:pt x="0" y="0"/>
                </a:moveTo>
                <a:lnTo>
                  <a:pt x="2082255" y="0"/>
                </a:lnTo>
                <a:lnTo>
                  <a:pt x="2082255" y="1756035"/>
                </a:lnTo>
                <a:lnTo>
                  <a:pt x="0" y="1756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06805">
            <a:off x="16988768" y="6298992"/>
            <a:ext cx="1574766" cy="2335870"/>
          </a:xfrm>
          <a:custGeom>
            <a:avLst/>
            <a:gdLst/>
            <a:ahLst/>
            <a:cxnLst/>
            <a:rect r="r" b="b" t="t" l="l"/>
            <a:pathLst>
              <a:path h="2335870" w="1574766">
                <a:moveTo>
                  <a:pt x="0" y="0"/>
                </a:moveTo>
                <a:lnTo>
                  <a:pt x="1574766" y="0"/>
                </a:lnTo>
                <a:lnTo>
                  <a:pt x="1574766" y="2335870"/>
                </a:lnTo>
                <a:lnTo>
                  <a:pt x="0" y="23358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114828">
            <a:off x="8508763" y="-93804"/>
            <a:ext cx="1522954" cy="1215190"/>
          </a:xfrm>
          <a:custGeom>
            <a:avLst/>
            <a:gdLst/>
            <a:ahLst/>
            <a:cxnLst/>
            <a:rect r="r" b="b" t="t" l="l"/>
            <a:pathLst>
              <a:path h="1215190" w="1522954">
                <a:moveTo>
                  <a:pt x="0" y="0"/>
                </a:moveTo>
                <a:lnTo>
                  <a:pt x="1522954" y="0"/>
                </a:lnTo>
                <a:lnTo>
                  <a:pt x="1522954" y="1215190"/>
                </a:lnTo>
                <a:lnTo>
                  <a:pt x="0" y="12151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68827" y="7231761"/>
            <a:ext cx="8032063" cy="176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Conf</a:t>
            </a: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eitaria</a:t>
            </a:r>
          </a:p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DOCE &amp; 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30675" y="6350219"/>
            <a:ext cx="6138173" cy="422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 empresa analisada foi a Doce &amp; Cia</a:t>
            </a: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, um microempreendimento de produção artesanal de bolos, doces, tortas e outros produtos sob encomenda. O negócio é administrado integralmente pela própria empreendedora, que é responsável por todas as atividades, desde o atendimento aos clientes até a produção e entrega dos pedidos. Atualmente, a divulgação dos produtos acontece principalmente por meio do Instagram, WhatsApp e de um site institucional que funciona como vitrine digital.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768827" y="6582396"/>
            <a:ext cx="436121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Apresentando: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19935" y="1750879"/>
            <a:ext cx="7593493" cy="6010266"/>
            <a:chOff x="0" y="0"/>
            <a:chExt cx="1637768" cy="1296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7770" cy="1296297"/>
            </a:xfrm>
            <a:custGeom>
              <a:avLst/>
              <a:gdLst/>
              <a:ahLst/>
              <a:cxnLst/>
              <a:rect r="r" b="b" t="t" l="l"/>
              <a:pathLst>
                <a:path h="1296297" w="1637770">
                  <a:moveTo>
                    <a:pt x="1290811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016904"/>
                  </a:lnTo>
                  <a:cubicBezTo>
                    <a:pt x="0" y="1053415"/>
                    <a:pt x="13458" y="1088645"/>
                    <a:pt x="37800" y="1115856"/>
                  </a:cubicBezTo>
                  <a:lnTo>
                    <a:pt x="154967" y="1246833"/>
                  </a:lnTo>
                  <a:cubicBezTo>
                    <a:pt x="183122" y="1278308"/>
                    <a:pt x="223353" y="1296298"/>
                    <a:pt x="265584" y="1296297"/>
                  </a:cubicBezTo>
                  <a:lnTo>
                    <a:pt x="1489354" y="1296297"/>
                  </a:lnTo>
                  <a:cubicBezTo>
                    <a:pt x="1528716" y="1296297"/>
                    <a:pt x="1566467" y="1280661"/>
                    <a:pt x="1594300" y="1252828"/>
                  </a:cubicBezTo>
                  <a:cubicBezTo>
                    <a:pt x="1622134" y="1224994"/>
                    <a:pt x="1637770" y="1187244"/>
                    <a:pt x="1637770" y="1147882"/>
                  </a:cubicBezTo>
                  <a:lnTo>
                    <a:pt x="1637770" y="366141"/>
                  </a:lnTo>
                  <a:cubicBezTo>
                    <a:pt x="1637771" y="329143"/>
                    <a:pt x="1623951" y="293478"/>
                    <a:pt x="1599021" y="266140"/>
                  </a:cubicBezTo>
                  <a:lnTo>
                    <a:pt x="1400478" y="48414"/>
                  </a:lnTo>
                  <a:cubicBezTo>
                    <a:pt x="1372356" y="17574"/>
                    <a:pt x="1332548" y="0"/>
                    <a:pt x="129081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0884" r="0" b="-33080"/>
              </a:stretch>
            </a:blipFill>
            <a:ln w="76200" cap="sq">
              <a:solidFill>
                <a:srgbClr val="8B43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568964" y="4981877"/>
            <a:ext cx="8760774" cy="3541618"/>
            <a:chOff x="0" y="0"/>
            <a:chExt cx="2174587" cy="8790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4587" cy="879096"/>
            </a:xfrm>
            <a:custGeom>
              <a:avLst/>
              <a:gdLst/>
              <a:ahLst/>
              <a:cxnLst/>
              <a:rect r="r" b="b" t="t" l="l"/>
              <a:pathLst>
                <a:path h="879096" w="2174587">
                  <a:moveTo>
                    <a:pt x="30930" y="0"/>
                  </a:moveTo>
                  <a:lnTo>
                    <a:pt x="2143658" y="0"/>
                  </a:lnTo>
                  <a:cubicBezTo>
                    <a:pt x="2160740" y="0"/>
                    <a:pt x="2174587" y="13848"/>
                    <a:pt x="2174587" y="30930"/>
                  </a:cubicBezTo>
                  <a:lnTo>
                    <a:pt x="2174587" y="848166"/>
                  </a:lnTo>
                  <a:cubicBezTo>
                    <a:pt x="2174587" y="865248"/>
                    <a:pt x="2160740" y="879096"/>
                    <a:pt x="2143658" y="879096"/>
                  </a:cubicBezTo>
                  <a:lnTo>
                    <a:pt x="30930" y="879096"/>
                  </a:lnTo>
                  <a:cubicBezTo>
                    <a:pt x="13848" y="879096"/>
                    <a:pt x="0" y="865248"/>
                    <a:pt x="0" y="848166"/>
                  </a:cubicBezTo>
                  <a:lnTo>
                    <a:pt x="0" y="30930"/>
                  </a:lnTo>
                  <a:cubicBezTo>
                    <a:pt x="0" y="13848"/>
                    <a:pt x="13848" y="0"/>
                    <a:pt x="30930" y="0"/>
                  </a:cubicBezTo>
                  <a:close/>
                </a:path>
              </a:pathLst>
            </a:custGeom>
            <a:solidFill>
              <a:srgbClr val="F2CBCC"/>
            </a:solidFill>
            <a:ln w="76200" cap="rnd">
              <a:solidFill>
                <a:srgbClr val="8B43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74587" cy="926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0737998">
            <a:off x="6148541" y="721277"/>
            <a:ext cx="1505538" cy="909459"/>
          </a:xfrm>
          <a:custGeom>
            <a:avLst/>
            <a:gdLst/>
            <a:ahLst/>
            <a:cxnLst/>
            <a:rect r="r" b="b" t="t" l="l"/>
            <a:pathLst>
              <a:path h="909459" w="1505538">
                <a:moveTo>
                  <a:pt x="0" y="0"/>
                </a:moveTo>
                <a:lnTo>
                  <a:pt x="1505537" y="0"/>
                </a:lnTo>
                <a:lnTo>
                  <a:pt x="1505537" y="909459"/>
                </a:lnTo>
                <a:lnTo>
                  <a:pt x="0" y="9094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879102" y="8810140"/>
            <a:ext cx="1483788" cy="896320"/>
          </a:xfrm>
          <a:custGeom>
            <a:avLst/>
            <a:gdLst/>
            <a:ahLst/>
            <a:cxnLst/>
            <a:rect r="r" b="b" t="t" l="l"/>
            <a:pathLst>
              <a:path h="896320" w="1483788">
                <a:moveTo>
                  <a:pt x="0" y="0"/>
                </a:moveTo>
                <a:lnTo>
                  <a:pt x="1483788" y="0"/>
                </a:lnTo>
                <a:lnTo>
                  <a:pt x="1483788" y="896320"/>
                </a:lnTo>
                <a:lnTo>
                  <a:pt x="0" y="896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108888">
            <a:off x="-641354" y="1305041"/>
            <a:ext cx="2099998" cy="2191302"/>
          </a:xfrm>
          <a:custGeom>
            <a:avLst/>
            <a:gdLst/>
            <a:ahLst/>
            <a:cxnLst/>
            <a:rect r="r" b="b" t="t" l="l"/>
            <a:pathLst>
              <a:path h="2191302" w="2099998">
                <a:moveTo>
                  <a:pt x="0" y="0"/>
                </a:moveTo>
                <a:lnTo>
                  <a:pt x="2099998" y="0"/>
                </a:lnTo>
                <a:lnTo>
                  <a:pt x="2099998" y="2191301"/>
                </a:lnTo>
                <a:lnTo>
                  <a:pt x="0" y="21913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659522">
            <a:off x="4064924" y="8721241"/>
            <a:ext cx="2263787" cy="1970438"/>
          </a:xfrm>
          <a:custGeom>
            <a:avLst/>
            <a:gdLst/>
            <a:ahLst/>
            <a:cxnLst/>
            <a:rect r="r" b="b" t="t" l="l"/>
            <a:pathLst>
              <a:path h="1970438" w="2263787">
                <a:moveTo>
                  <a:pt x="0" y="0"/>
                </a:moveTo>
                <a:lnTo>
                  <a:pt x="2263786" y="0"/>
                </a:lnTo>
                <a:lnTo>
                  <a:pt x="2263786" y="1970438"/>
                </a:lnTo>
                <a:lnTo>
                  <a:pt x="0" y="19704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61155">
            <a:off x="16191736" y="461120"/>
            <a:ext cx="1492587" cy="1429774"/>
          </a:xfrm>
          <a:custGeom>
            <a:avLst/>
            <a:gdLst/>
            <a:ahLst/>
            <a:cxnLst/>
            <a:rect r="r" b="b" t="t" l="l"/>
            <a:pathLst>
              <a:path h="1429774" w="1492587">
                <a:moveTo>
                  <a:pt x="0" y="0"/>
                </a:moveTo>
                <a:lnTo>
                  <a:pt x="1492588" y="0"/>
                </a:lnTo>
                <a:lnTo>
                  <a:pt x="1492588" y="1429774"/>
                </a:lnTo>
                <a:lnTo>
                  <a:pt x="0" y="14297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13588" y="2979047"/>
            <a:ext cx="6278221" cy="176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N</a:t>
            </a: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ecessidades do Negócio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9833" y="5313943"/>
            <a:ext cx="7640270" cy="316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Durante a análise d</a:t>
            </a: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os processos da empresa, identificamos que grande parte das informações era controlada de forma manual, utilizando conversas no WhatsApp, planilhas e anotações. Isso dificultava o acompanhamento dos pedidos, a organização da agenda de produção e o acesso a informações gerenciais. Além disso, a ausência de um sistema centralizado aumentava o risco de perda de dados, atrasos e retrabalho, especialmente em períodos de maior demanda.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913588" y="2210023"/>
            <a:ext cx="365847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Indentificando 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6266" y="4811609"/>
            <a:ext cx="15014518" cy="3758482"/>
            <a:chOff x="0" y="0"/>
            <a:chExt cx="3121582" cy="7814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1583" cy="781411"/>
            </a:xfrm>
            <a:custGeom>
              <a:avLst/>
              <a:gdLst/>
              <a:ahLst/>
              <a:cxnLst/>
              <a:rect r="r" b="b" t="t" l="l"/>
              <a:pathLst>
                <a:path h="781411" w="3121583">
                  <a:moveTo>
                    <a:pt x="3025984" y="0"/>
                  </a:moveTo>
                  <a:lnTo>
                    <a:pt x="95598" y="0"/>
                  </a:lnTo>
                  <a:cubicBezTo>
                    <a:pt x="42801" y="0"/>
                    <a:pt x="0" y="42801"/>
                    <a:pt x="0" y="95598"/>
                  </a:cubicBezTo>
                  <a:lnTo>
                    <a:pt x="0" y="483490"/>
                  </a:lnTo>
                  <a:cubicBezTo>
                    <a:pt x="0" y="536288"/>
                    <a:pt x="42801" y="579088"/>
                    <a:pt x="95598" y="579088"/>
                  </a:cubicBezTo>
                  <a:lnTo>
                    <a:pt x="204343" y="579088"/>
                  </a:lnTo>
                  <a:cubicBezTo>
                    <a:pt x="231994" y="579088"/>
                    <a:pt x="258291" y="591060"/>
                    <a:pt x="276447" y="611915"/>
                  </a:cubicBezTo>
                  <a:lnTo>
                    <a:pt x="395420" y="748576"/>
                  </a:lnTo>
                  <a:cubicBezTo>
                    <a:pt x="413574" y="769435"/>
                    <a:pt x="439871" y="781410"/>
                    <a:pt x="467524" y="781411"/>
                  </a:cubicBezTo>
                  <a:lnTo>
                    <a:pt x="2654059" y="781411"/>
                  </a:lnTo>
                  <a:cubicBezTo>
                    <a:pt x="2681710" y="781411"/>
                    <a:pt x="2708007" y="769438"/>
                    <a:pt x="2726163" y="748583"/>
                  </a:cubicBezTo>
                  <a:lnTo>
                    <a:pt x="2845134" y="611923"/>
                  </a:lnTo>
                  <a:cubicBezTo>
                    <a:pt x="2863290" y="591067"/>
                    <a:pt x="2889587" y="579094"/>
                    <a:pt x="2917238" y="579095"/>
                  </a:cubicBezTo>
                  <a:lnTo>
                    <a:pt x="3025984" y="579095"/>
                  </a:lnTo>
                  <a:cubicBezTo>
                    <a:pt x="3078782" y="579095"/>
                    <a:pt x="3121583" y="536294"/>
                    <a:pt x="3121583" y="483497"/>
                  </a:cubicBezTo>
                  <a:lnTo>
                    <a:pt x="3121583" y="95598"/>
                  </a:lnTo>
                  <a:cubicBezTo>
                    <a:pt x="3121583" y="42801"/>
                    <a:pt x="3078782" y="0"/>
                    <a:pt x="302598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8152" r="0" b="-88410"/>
              </a:stretch>
            </a:blipFill>
            <a:ln w="76200" cap="sq">
              <a:solidFill>
                <a:srgbClr val="8B43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136953" y="825459"/>
            <a:ext cx="8472813" cy="3645325"/>
            <a:chOff x="0" y="0"/>
            <a:chExt cx="2103110" cy="904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10" cy="904838"/>
            </a:xfrm>
            <a:custGeom>
              <a:avLst/>
              <a:gdLst/>
              <a:ahLst/>
              <a:cxnLst/>
              <a:rect r="r" b="b" t="t" l="l"/>
              <a:pathLst>
                <a:path h="904838" w="2103110">
                  <a:moveTo>
                    <a:pt x="31981" y="0"/>
                  </a:moveTo>
                  <a:lnTo>
                    <a:pt x="2071129" y="0"/>
                  </a:lnTo>
                  <a:cubicBezTo>
                    <a:pt x="2079611" y="0"/>
                    <a:pt x="2087745" y="3369"/>
                    <a:pt x="2093743" y="9367"/>
                  </a:cubicBezTo>
                  <a:cubicBezTo>
                    <a:pt x="2099741" y="15365"/>
                    <a:pt x="2103110" y="23499"/>
                    <a:pt x="2103110" y="31981"/>
                  </a:cubicBezTo>
                  <a:lnTo>
                    <a:pt x="2103110" y="872857"/>
                  </a:lnTo>
                  <a:cubicBezTo>
                    <a:pt x="2103110" y="881339"/>
                    <a:pt x="2099741" y="889473"/>
                    <a:pt x="2093743" y="895471"/>
                  </a:cubicBezTo>
                  <a:cubicBezTo>
                    <a:pt x="2087745" y="901468"/>
                    <a:pt x="2079611" y="904838"/>
                    <a:pt x="2071129" y="904838"/>
                  </a:cubicBezTo>
                  <a:lnTo>
                    <a:pt x="31981" y="904838"/>
                  </a:lnTo>
                  <a:cubicBezTo>
                    <a:pt x="23499" y="904838"/>
                    <a:pt x="15365" y="901468"/>
                    <a:pt x="9367" y="895471"/>
                  </a:cubicBezTo>
                  <a:cubicBezTo>
                    <a:pt x="3369" y="889473"/>
                    <a:pt x="0" y="881339"/>
                    <a:pt x="0" y="872857"/>
                  </a:cubicBezTo>
                  <a:lnTo>
                    <a:pt x="0" y="31981"/>
                  </a:lnTo>
                  <a:cubicBezTo>
                    <a:pt x="0" y="23499"/>
                    <a:pt x="3369" y="15365"/>
                    <a:pt x="9367" y="9367"/>
                  </a:cubicBezTo>
                  <a:cubicBezTo>
                    <a:pt x="15365" y="3369"/>
                    <a:pt x="23499" y="0"/>
                    <a:pt x="31981" y="0"/>
                  </a:cubicBezTo>
                  <a:close/>
                </a:path>
              </a:pathLst>
            </a:custGeom>
            <a:solidFill>
              <a:srgbClr val="F2CBCC"/>
            </a:solidFill>
            <a:ln w="76200" cap="rnd">
              <a:solidFill>
                <a:srgbClr val="8B43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03110" cy="9524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97284" y="2903114"/>
            <a:ext cx="7971398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K</a:t>
            </a: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IT e KIQs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97284" y="2003220"/>
            <a:ext cx="550193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</a:t>
            </a:r>
            <a:r>
              <a:rPr lang="en-US" sz="24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lano de Inteligência Competitiva: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74062" y="1050453"/>
            <a:ext cx="8178554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Com</a:t>
            </a: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 base nos problemas identificados, foi definido como KIT, ou Tópico-Chave de Inteligência, a necessidade de estruturar e melhorar o controle de pedidos e da agenda de produção. A partir desse tema, elaboramos diversas KIQs, que são Questões-Chave de Inteligência, buscando entender como os pedidos eram registrados, quais informações eram necessárias para a gestão do negócio, como a agenda poderia ser organizada de forma mais eficiente e quais dados seriam importantes para apoiar futuras decisões da empreendedora.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951118" y="3809259"/>
            <a:ext cx="501992" cy="501992"/>
          </a:xfrm>
          <a:custGeom>
            <a:avLst/>
            <a:gdLst/>
            <a:ahLst/>
            <a:cxnLst/>
            <a:rect r="r" b="b" t="t" l="l"/>
            <a:pathLst>
              <a:path h="501992" w="501992">
                <a:moveTo>
                  <a:pt x="0" y="0"/>
                </a:moveTo>
                <a:lnTo>
                  <a:pt x="501992" y="0"/>
                </a:lnTo>
                <a:lnTo>
                  <a:pt x="501992" y="501992"/>
                </a:lnTo>
                <a:lnTo>
                  <a:pt x="0" y="5019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6194675">
            <a:off x="15681069" y="-103493"/>
            <a:ext cx="2903486" cy="1430627"/>
          </a:xfrm>
          <a:custGeom>
            <a:avLst/>
            <a:gdLst/>
            <a:ahLst/>
            <a:cxnLst/>
            <a:rect r="r" b="b" t="t" l="l"/>
            <a:pathLst>
              <a:path h="1430627" w="2903486">
                <a:moveTo>
                  <a:pt x="0" y="0"/>
                </a:moveTo>
                <a:lnTo>
                  <a:pt x="2903486" y="0"/>
                </a:lnTo>
                <a:lnTo>
                  <a:pt x="2903486" y="1430627"/>
                </a:lnTo>
                <a:lnTo>
                  <a:pt x="0" y="14306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1692">
            <a:off x="1368964" y="8468660"/>
            <a:ext cx="1568170" cy="947293"/>
          </a:xfrm>
          <a:custGeom>
            <a:avLst/>
            <a:gdLst/>
            <a:ahLst/>
            <a:cxnLst/>
            <a:rect r="r" b="b" t="t" l="l"/>
            <a:pathLst>
              <a:path h="947293" w="1568170">
                <a:moveTo>
                  <a:pt x="0" y="0"/>
                </a:moveTo>
                <a:lnTo>
                  <a:pt x="1568170" y="0"/>
                </a:lnTo>
                <a:lnTo>
                  <a:pt x="1568170" y="947293"/>
                </a:lnTo>
                <a:lnTo>
                  <a:pt x="0" y="9472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638875">
            <a:off x="-201501" y="324996"/>
            <a:ext cx="1574766" cy="2335870"/>
          </a:xfrm>
          <a:custGeom>
            <a:avLst/>
            <a:gdLst/>
            <a:ahLst/>
            <a:cxnLst/>
            <a:rect r="r" b="b" t="t" l="l"/>
            <a:pathLst>
              <a:path h="2335870" w="1574766">
                <a:moveTo>
                  <a:pt x="0" y="0"/>
                </a:moveTo>
                <a:lnTo>
                  <a:pt x="1574766" y="0"/>
                </a:lnTo>
                <a:lnTo>
                  <a:pt x="1574766" y="2335870"/>
                </a:lnTo>
                <a:lnTo>
                  <a:pt x="0" y="23358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45036">
            <a:off x="16013757" y="8753204"/>
            <a:ext cx="1613847" cy="1913652"/>
          </a:xfrm>
          <a:custGeom>
            <a:avLst/>
            <a:gdLst/>
            <a:ahLst/>
            <a:cxnLst/>
            <a:rect r="r" b="b" t="t" l="l"/>
            <a:pathLst>
              <a:path h="1913652" w="1613847">
                <a:moveTo>
                  <a:pt x="0" y="0"/>
                </a:moveTo>
                <a:lnTo>
                  <a:pt x="1613846" y="0"/>
                </a:lnTo>
                <a:lnTo>
                  <a:pt x="1613846" y="1913653"/>
                </a:lnTo>
                <a:lnTo>
                  <a:pt x="0" y="1913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0728411">
            <a:off x="6800051" y="266747"/>
            <a:ext cx="1142484" cy="690147"/>
          </a:xfrm>
          <a:custGeom>
            <a:avLst/>
            <a:gdLst/>
            <a:ahLst/>
            <a:cxnLst/>
            <a:rect r="r" b="b" t="t" l="l"/>
            <a:pathLst>
              <a:path h="690147" w="1142484">
                <a:moveTo>
                  <a:pt x="0" y="0"/>
                </a:moveTo>
                <a:lnTo>
                  <a:pt x="1142484" y="0"/>
                </a:lnTo>
                <a:lnTo>
                  <a:pt x="1142484" y="690147"/>
                </a:lnTo>
                <a:lnTo>
                  <a:pt x="0" y="69014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1263" y="1985693"/>
            <a:ext cx="7215628" cy="3655261"/>
            <a:chOff x="0" y="0"/>
            <a:chExt cx="1700157" cy="8612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0160" cy="861258"/>
            </a:xfrm>
            <a:custGeom>
              <a:avLst/>
              <a:gdLst/>
              <a:ahLst/>
              <a:cxnLst/>
              <a:rect r="r" b="b" t="t" l="l"/>
              <a:pathLst>
                <a:path h="861258" w="1700160">
                  <a:moveTo>
                    <a:pt x="1353201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51744" y="861258"/>
                  </a:lnTo>
                  <a:cubicBezTo>
                    <a:pt x="1591106" y="861258"/>
                    <a:pt x="1628856" y="845622"/>
                    <a:pt x="1656690" y="817789"/>
                  </a:cubicBezTo>
                  <a:cubicBezTo>
                    <a:pt x="1684523" y="789956"/>
                    <a:pt x="1700160" y="752206"/>
                    <a:pt x="1700160" y="712843"/>
                  </a:cubicBezTo>
                  <a:lnTo>
                    <a:pt x="1700160" y="366141"/>
                  </a:lnTo>
                  <a:cubicBezTo>
                    <a:pt x="1700160" y="329143"/>
                    <a:pt x="1686341" y="293478"/>
                    <a:pt x="1661411" y="266140"/>
                  </a:cubicBezTo>
                  <a:lnTo>
                    <a:pt x="1462868" y="48414"/>
                  </a:lnTo>
                  <a:cubicBezTo>
                    <a:pt x="1434745" y="17574"/>
                    <a:pt x="1394938" y="0"/>
                    <a:pt x="135320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4852" r="0" b="-52551"/>
              </a:stretch>
            </a:blipFill>
            <a:ln w="76200" cap="sq">
              <a:solidFill>
                <a:srgbClr val="8B43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411110" y="1985693"/>
            <a:ext cx="7215628" cy="3655261"/>
            <a:chOff x="0" y="0"/>
            <a:chExt cx="1700157" cy="8612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00160" cy="861258"/>
            </a:xfrm>
            <a:custGeom>
              <a:avLst/>
              <a:gdLst/>
              <a:ahLst/>
              <a:cxnLst/>
              <a:rect r="r" b="b" t="t" l="l"/>
              <a:pathLst>
                <a:path h="861258" w="1700160">
                  <a:moveTo>
                    <a:pt x="1353201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51744" y="861258"/>
                  </a:lnTo>
                  <a:cubicBezTo>
                    <a:pt x="1591106" y="861258"/>
                    <a:pt x="1628856" y="845622"/>
                    <a:pt x="1656690" y="817789"/>
                  </a:cubicBezTo>
                  <a:cubicBezTo>
                    <a:pt x="1684523" y="789956"/>
                    <a:pt x="1700160" y="752206"/>
                    <a:pt x="1700160" y="712843"/>
                  </a:cubicBezTo>
                  <a:lnTo>
                    <a:pt x="1700160" y="366141"/>
                  </a:lnTo>
                  <a:cubicBezTo>
                    <a:pt x="1700160" y="329143"/>
                    <a:pt x="1686341" y="293478"/>
                    <a:pt x="1661411" y="266140"/>
                  </a:cubicBezTo>
                  <a:lnTo>
                    <a:pt x="1462868" y="48414"/>
                  </a:lnTo>
                  <a:cubicBezTo>
                    <a:pt x="1434745" y="17574"/>
                    <a:pt x="1394938" y="0"/>
                    <a:pt x="135320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64868" r="0" b="-31423"/>
              </a:stretch>
            </a:blipFill>
            <a:ln w="76200" cap="sq">
              <a:solidFill>
                <a:srgbClr val="8B433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566019" y="6123193"/>
            <a:ext cx="7038823" cy="4691076"/>
            <a:chOff x="0" y="0"/>
            <a:chExt cx="1747167" cy="11644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47167" cy="1164412"/>
            </a:xfrm>
            <a:custGeom>
              <a:avLst/>
              <a:gdLst/>
              <a:ahLst/>
              <a:cxnLst/>
              <a:rect r="r" b="b" t="t" l="l"/>
              <a:pathLst>
                <a:path h="1164412" w="1747167">
                  <a:moveTo>
                    <a:pt x="38496" y="0"/>
                  </a:moveTo>
                  <a:lnTo>
                    <a:pt x="1708671" y="0"/>
                  </a:lnTo>
                  <a:cubicBezTo>
                    <a:pt x="1718881" y="0"/>
                    <a:pt x="1728672" y="4056"/>
                    <a:pt x="1735892" y="11275"/>
                  </a:cubicBezTo>
                  <a:cubicBezTo>
                    <a:pt x="1743111" y="18495"/>
                    <a:pt x="1747167" y="28286"/>
                    <a:pt x="1747167" y="38496"/>
                  </a:cubicBezTo>
                  <a:lnTo>
                    <a:pt x="1747167" y="1125916"/>
                  </a:lnTo>
                  <a:cubicBezTo>
                    <a:pt x="1747167" y="1136126"/>
                    <a:pt x="1743111" y="1145918"/>
                    <a:pt x="1735892" y="1153137"/>
                  </a:cubicBezTo>
                  <a:cubicBezTo>
                    <a:pt x="1728672" y="1160356"/>
                    <a:pt x="1718881" y="1164412"/>
                    <a:pt x="1708671" y="1164412"/>
                  </a:cubicBezTo>
                  <a:lnTo>
                    <a:pt x="38496" y="1164412"/>
                  </a:lnTo>
                  <a:cubicBezTo>
                    <a:pt x="28286" y="1164412"/>
                    <a:pt x="18495" y="1160356"/>
                    <a:pt x="11275" y="1153137"/>
                  </a:cubicBezTo>
                  <a:cubicBezTo>
                    <a:pt x="4056" y="1145918"/>
                    <a:pt x="0" y="1136126"/>
                    <a:pt x="0" y="1125916"/>
                  </a:cubicBezTo>
                  <a:lnTo>
                    <a:pt x="0" y="38496"/>
                  </a:lnTo>
                  <a:cubicBezTo>
                    <a:pt x="0" y="28286"/>
                    <a:pt x="4056" y="18495"/>
                    <a:pt x="11275" y="11275"/>
                  </a:cubicBezTo>
                  <a:cubicBezTo>
                    <a:pt x="18495" y="4056"/>
                    <a:pt x="28286" y="0"/>
                    <a:pt x="38496" y="0"/>
                  </a:cubicBezTo>
                  <a:close/>
                </a:path>
              </a:pathLst>
            </a:custGeom>
            <a:solidFill>
              <a:srgbClr val="F2CBCC"/>
            </a:solidFill>
            <a:ln w="76200" cap="rnd">
              <a:solidFill>
                <a:srgbClr val="8B4338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747167" cy="12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725348">
            <a:off x="1059751" y="8657010"/>
            <a:ext cx="2440661" cy="1202580"/>
          </a:xfrm>
          <a:custGeom>
            <a:avLst/>
            <a:gdLst/>
            <a:ahLst/>
            <a:cxnLst/>
            <a:rect r="r" b="b" t="t" l="l"/>
            <a:pathLst>
              <a:path h="1202580" w="2440661">
                <a:moveTo>
                  <a:pt x="0" y="0"/>
                </a:moveTo>
                <a:lnTo>
                  <a:pt x="2440661" y="0"/>
                </a:lnTo>
                <a:lnTo>
                  <a:pt x="2440661" y="1202580"/>
                </a:lnTo>
                <a:lnTo>
                  <a:pt x="0" y="12025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95263">
            <a:off x="16501043" y="-8192"/>
            <a:ext cx="2822701" cy="1390822"/>
          </a:xfrm>
          <a:custGeom>
            <a:avLst/>
            <a:gdLst/>
            <a:ahLst/>
            <a:cxnLst/>
            <a:rect r="r" b="b" t="t" l="l"/>
            <a:pathLst>
              <a:path h="1390822" w="2822701">
                <a:moveTo>
                  <a:pt x="0" y="0"/>
                </a:moveTo>
                <a:lnTo>
                  <a:pt x="2822701" y="0"/>
                </a:lnTo>
                <a:lnTo>
                  <a:pt x="2822701" y="1390821"/>
                </a:lnTo>
                <a:lnTo>
                  <a:pt x="0" y="1390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628751">
            <a:off x="556958" y="773591"/>
            <a:ext cx="2082255" cy="1756035"/>
          </a:xfrm>
          <a:custGeom>
            <a:avLst/>
            <a:gdLst/>
            <a:ahLst/>
            <a:cxnLst/>
            <a:rect r="r" b="b" t="t" l="l"/>
            <a:pathLst>
              <a:path h="1756035" w="2082255">
                <a:moveTo>
                  <a:pt x="0" y="0"/>
                </a:moveTo>
                <a:lnTo>
                  <a:pt x="2082255" y="0"/>
                </a:lnTo>
                <a:lnTo>
                  <a:pt x="2082255" y="1756035"/>
                </a:lnTo>
                <a:lnTo>
                  <a:pt x="0" y="1756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06805">
            <a:off x="16988768" y="6298992"/>
            <a:ext cx="1574766" cy="2335870"/>
          </a:xfrm>
          <a:custGeom>
            <a:avLst/>
            <a:gdLst/>
            <a:ahLst/>
            <a:cxnLst/>
            <a:rect r="r" b="b" t="t" l="l"/>
            <a:pathLst>
              <a:path h="2335870" w="1574766">
                <a:moveTo>
                  <a:pt x="0" y="0"/>
                </a:moveTo>
                <a:lnTo>
                  <a:pt x="1574766" y="0"/>
                </a:lnTo>
                <a:lnTo>
                  <a:pt x="1574766" y="2335870"/>
                </a:lnTo>
                <a:lnTo>
                  <a:pt x="0" y="23358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114828">
            <a:off x="8508763" y="-93804"/>
            <a:ext cx="1522954" cy="1215190"/>
          </a:xfrm>
          <a:custGeom>
            <a:avLst/>
            <a:gdLst/>
            <a:ahLst/>
            <a:cxnLst/>
            <a:rect r="r" b="b" t="t" l="l"/>
            <a:pathLst>
              <a:path h="1215190" w="1522954">
                <a:moveTo>
                  <a:pt x="0" y="0"/>
                </a:moveTo>
                <a:lnTo>
                  <a:pt x="1522954" y="0"/>
                </a:lnTo>
                <a:lnTo>
                  <a:pt x="1522954" y="1215190"/>
                </a:lnTo>
                <a:lnTo>
                  <a:pt x="0" y="12151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83158" y="7423737"/>
            <a:ext cx="8032063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Plano de Coleta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27357" y="6508169"/>
            <a:ext cx="6608824" cy="387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 coleta de </a:t>
            </a: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informações foi realizada por meio da análise das conversas de WhatsApp, planilhas utilizadas pela empreendedora, anotações manuais e entrevistas sobre o funcionamento do negócio. A avaliação dessas fontes mostrou que os dados existiam, mas estavam descentralizados e sem padronização. Por isso, propusemos uma nova estratégia de coleta baseada na centralização das informações em um único sistema, permitindo maior controle, organização e confiabilidade dos dados.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683158" y="6591463"/>
            <a:ext cx="436121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</a:t>
            </a:r>
            <a:r>
              <a:rPr lang="en-US" sz="24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ontes de Dados 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61714" y="1777195"/>
            <a:ext cx="7593493" cy="6010266"/>
            <a:chOff x="0" y="0"/>
            <a:chExt cx="1637768" cy="1296297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637770" cy="1296297"/>
            </a:xfrm>
            <a:custGeom>
              <a:avLst/>
              <a:gdLst/>
              <a:ahLst/>
              <a:cxnLst/>
              <a:rect r="r" b="b" t="t" l="l"/>
              <a:pathLst>
                <a:path h="1296297" w="1637770">
                  <a:moveTo>
                    <a:pt x="346959" y="0"/>
                  </a:moveTo>
                  <a:lnTo>
                    <a:pt x="1489355" y="0"/>
                  </a:lnTo>
                  <a:cubicBezTo>
                    <a:pt x="1571323" y="0"/>
                    <a:pt x="1637770" y="66448"/>
                    <a:pt x="1637770" y="148415"/>
                  </a:cubicBezTo>
                  <a:lnTo>
                    <a:pt x="1637770" y="1016904"/>
                  </a:lnTo>
                  <a:cubicBezTo>
                    <a:pt x="1637770" y="1053415"/>
                    <a:pt x="1624312" y="1088645"/>
                    <a:pt x="1599970" y="1115856"/>
                  </a:cubicBezTo>
                  <a:lnTo>
                    <a:pt x="1482804" y="1246833"/>
                  </a:lnTo>
                  <a:cubicBezTo>
                    <a:pt x="1454648" y="1278308"/>
                    <a:pt x="1414417" y="1296298"/>
                    <a:pt x="1372187" y="1296297"/>
                  </a:cubicBezTo>
                  <a:lnTo>
                    <a:pt x="148416" y="1296297"/>
                  </a:lnTo>
                  <a:cubicBezTo>
                    <a:pt x="109054" y="1296297"/>
                    <a:pt x="71303" y="1280661"/>
                    <a:pt x="43470" y="1252828"/>
                  </a:cubicBezTo>
                  <a:cubicBezTo>
                    <a:pt x="15637" y="1224994"/>
                    <a:pt x="0" y="1187244"/>
                    <a:pt x="0" y="1147882"/>
                  </a:cubicBezTo>
                  <a:lnTo>
                    <a:pt x="0" y="366141"/>
                  </a:lnTo>
                  <a:cubicBezTo>
                    <a:pt x="-1" y="329143"/>
                    <a:pt x="13819" y="293478"/>
                    <a:pt x="38749" y="266140"/>
                  </a:cubicBezTo>
                  <a:lnTo>
                    <a:pt x="237292" y="48414"/>
                  </a:lnTo>
                  <a:cubicBezTo>
                    <a:pt x="265414" y="17574"/>
                    <a:pt x="305222" y="0"/>
                    <a:pt x="34695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7537" r="0" b="-21803"/>
              </a:stretch>
            </a:blipFill>
            <a:ln w="76200" cap="sq">
              <a:solidFill>
                <a:srgbClr val="8B43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568964" y="4782328"/>
            <a:ext cx="8979802" cy="3601039"/>
            <a:chOff x="0" y="0"/>
            <a:chExt cx="2228954" cy="8938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28954" cy="893845"/>
            </a:xfrm>
            <a:custGeom>
              <a:avLst/>
              <a:gdLst/>
              <a:ahLst/>
              <a:cxnLst/>
              <a:rect r="r" b="b" t="t" l="l"/>
              <a:pathLst>
                <a:path h="893845" w="2228954">
                  <a:moveTo>
                    <a:pt x="30175" y="0"/>
                  </a:moveTo>
                  <a:lnTo>
                    <a:pt x="2198779" y="0"/>
                  </a:lnTo>
                  <a:cubicBezTo>
                    <a:pt x="2215444" y="0"/>
                    <a:pt x="2228954" y="13510"/>
                    <a:pt x="2228954" y="30175"/>
                  </a:cubicBezTo>
                  <a:lnTo>
                    <a:pt x="2228954" y="863670"/>
                  </a:lnTo>
                  <a:cubicBezTo>
                    <a:pt x="2228954" y="880335"/>
                    <a:pt x="2215444" y="893845"/>
                    <a:pt x="2198779" y="893845"/>
                  </a:cubicBezTo>
                  <a:lnTo>
                    <a:pt x="30175" y="893845"/>
                  </a:lnTo>
                  <a:cubicBezTo>
                    <a:pt x="13510" y="893845"/>
                    <a:pt x="0" y="880335"/>
                    <a:pt x="0" y="863670"/>
                  </a:cubicBezTo>
                  <a:lnTo>
                    <a:pt x="0" y="30175"/>
                  </a:lnTo>
                  <a:cubicBezTo>
                    <a:pt x="0" y="13510"/>
                    <a:pt x="13510" y="0"/>
                    <a:pt x="30175" y="0"/>
                  </a:cubicBezTo>
                  <a:close/>
                </a:path>
              </a:pathLst>
            </a:custGeom>
            <a:solidFill>
              <a:srgbClr val="F2CBCC"/>
            </a:solidFill>
            <a:ln w="76200" cap="rnd">
              <a:solidFill>
                <a:srgbClr val="8B43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228954" cy="9414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13743" y="2354455"/>
            <a:ext cx="6031227" cy="176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Necessid</a:t>
            </a: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ades e a Solução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479102" y="3651981"/>
            <a:ext cx="931736" cy="931736"/>
          </a:xfrm>
          <a:custGeom>
            <a:avLst/>
            <a:gdLst/>
            <a:ahLst/>
            <a:cxnLst/>
            <a:rect r="r" b="b" t="t" l="l"/>
            <a:pathLst>
              <a:path h="931736" w="931736">
                <a:moveTo>
                  <a:pt x="0" y="0"/>
                </a:moveTo>
                <a:lnTo>
                  <a:pt x="931736" y="0"/>
                </a:lnTo>
                <a:lnTo>
                  <a:pt x="931736" y="931737"/>
                </a:lnTo>
                <a:lnTo>
                  <a:pt x="0" y="9317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2023" y="4991100"/>
            <a:ext cx="8060218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 solução p</a:t>
            </a: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roposta foi planejada diretamente a partir das necessidades identificadas no Plano de Inteligência Competitiva. Cada funcionalidade do sistema foi desenvolvida para resolver um problema específico da empresa. Enquanto o controle manual de pedidos foi substituído por um sistema centralizado, a organização da agenda passou a ser realizada por meio de um calendário integrado. Além disso, a implementação de um banco de dados e de dashboards gerenciais permite transformar informações operacionais em apoio para a tomada de decisão.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932793" y="1676938"/>
            <a:ext cx="365847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Conexã</a:t>
            </a:r>
            <a:r>
              <a:rPr lang="en-US" sz="24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 entre as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10737998">
            <a:off x="6148541" y="721277"/>
            <a:ext cx="1505538" cy="909459"/>
          </a:xfrm>
          <a:custGeom>
            <a:avLst/>
            <a:gdLst/>
            <a:ahLst/>
            <a:cxnLst/>
            <a:rect r="r" b="b" t="t" l="l"/>
            <a:pathLst>
              <a:path h="909459" w="1505538">
                <a:moveTo>
                  <a:pt x="0" y="0"/>
                </a:moveTo>
                <a:lnTo>
                  <a:pt x="1505537" y="0"/>
                </a:lnTo>
                <a:lnTo>
                  <a:pt x="1505537" y="909459"/>
                </a:lnTo>
                <a:lnTo>
                  <a:pt x="0" y="9094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79102" y="8810140"/>
            <a:ext cx="1483788" cy="896320"/>
          </a:xfrm>
          <a:custGeom>
            <a:avLst/>
            <a:gdLst/>
            <a:ahLst/>
            <a:cxnLst/>
            <a:rect r="r" b="b" t="t" l="l"/>
            <a:pathLst>
              <a:path h="896320" w="1483788">
                <a:moveTo>
                  <a:pt x="0" y="0"/>
                </a:moveTo>
                <a:lnTo>
                  <a:pt x="1483788" y="0"/>
                </a:lnTo>
                <a:lnTo>
                  <a:pt x="1483788" y="896320"/>
                </a:lnTo>
                <a:lnTo>
                  <a:pt x="0" y="8963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108888">
            <a:off x="-641354" y="1305041"/>
            <a:ext cx="2099998" cy="2191302"/>
          </a:xfrm>
          <a:custGeom>
            <a:avLst/>
            <a:gdLst/>
            <a:ahLst/>
            <a:cxnLst/>
            <a:rect r="r" b="b" t="t" l="l"/>
            <a:pathLst>
              <a:path h="2191302" w="2099998">
                <a:moveTo>
                  <a:pt x="0" y="0"/>
                </a:moveTo>
                <a:lnTo>
                  <a:pt x="2099998" y="0"/>
                </a:lnTo>
                <a:lnTo>
                  <a:pt x="2099998" y="2191301"/>
                </a:lnTo>
                <a:lnTo>
                  <a:pt x="0" y="21913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659522">
            <a:off x="4064924" y="8721241"/>
            <a:ext cx="2263787" cy="1970438"/>
          </a:xfrm>
          <a:custGeom>
            <a:avLst/>
            <a:gdLst/>
            <a:ahLst/>
            <a:cxnLst/>
            <a:rect r="r" b="b" t="t" l="l"/>
            <a:pathLst>
              <a:path h="1970438" w="2263787">
                <a:moveTo>
                  <a:pt x="0" y="0"/>
                </a:moveTo>
                <a:lnTo>
                  <a:pt x="2263786" y="0"/>
                </a:lnTo>
                <a:lnTo>
                  <a:pt x="2263786" y="1970438"/>
                </a:lnTo>
                <a:lnTo>
                  <a:pt x="0" y="19704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61155">
            <a:off x="16191736" y="461120"/>
            <a:ext cx="1492587" cy="1429774"/>
          </a:xfrm>
          <a:custGeom>
            <a:avLst/>
            <a:gdLst/>
            <a:ahLst/>
            <a:cxnLst/>
            <a:rect r="r" b="b" t="t" l="l"/>
            <a:pathLst>
              <a:path h="1429774" w="1492587">
                <a:moveTo>
                  <a:pt x="0" y="0"/>
                </a:moveTo>
                <a:lnTo>
                  <a:pt x="1492588" y="0"/>
                </a:lnTo>
                <a:lnTo>
                  <a:pt x="1492588" y="1429774"/>
                </a:lnTo>
                <a:lnTo>
                  <a:pt x="0" y="142977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741" y="4858364"/>
            <a:ext cx="15014518" cy="3758482"/>
            <a:chOff x="0" y="0"/>
            <a:chExt cx="3121582" cy="7814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1583" cy="781411"/>
            </a:xfrm>
            <a:custGeom>
              <a:avLst/>
              <a:gdLst/>
              <a:ahLst/>
              <a:cxnLst/>
              <a:rect r="r" b="b" t="t" l="l"/>
              <a:pathLst>
                <a:path h="781411" w="3121583">
                  <a:moveTo>
                    <a:pt x="3025984" y="0"/>
                  </a:moveTo>
                  <a:lnTo>
                    <a:pt x="95598" y="0"/>
                  </a:lnTo>
                  <a:cubicBezTo>
                    <a:pt x="42801" y="0"/>
                    <a:pt x="0" y="42801"/>
                    <a:pt x="0" y="95598"/>
                  </a:cubicBezTo>
                  <a:lnTo>
                    <a:pt x="0" y="483490"/>
                  </a:lnTo>
                  <a:cubicBezTo>
                    <a:pt x="0" y="536288"/>
                    <a:pt x="42801" y="579088"/>
                    <a:pt x="95598" y="579088"/>
                  </a:cubicBezTo>
                  <a:lnTo>
                    <a:pt x="204343" y="579088"/>
                  </a:lnTo>
                  <a:cubicBezTo>
                    <a:pt x="231994" y="579088"/>
                    <a:pt x="258291" y="591060"/>
                    <a:pt x="276447" y="611915"/>
                  </a:cubicBezTo>
                  <a:lnTo>
                    <a:pt x="395420" y="748576"/>
                  </a:lnTo>
                  <a:cubicBezTo>
                    <a:pt x="413574" y="769435"/>
                    <a:pt x="439871" y="781410"/>
                    <a:pt x="467524" y="781411"/>
                  </a:cubicBezTo>
                  <a:lnTo>
                    <a:pt x="2654059" y="781411"/>
                  </a:lnTo>
                  <a:cubicBezTo>
                    <a:pt x="2681710" y="781411"/>
                    <a:pt x="2708007" y="769438"/>
                    <a:pt x="2726163" y="748583"/>
                  </a:cubicBezTo>
                  <a:lnTo>
                    <a:pt x="2845134" y="611923"/>
                  </a:lnTo>
                  <a:cubicBezTo>
                    <a:pt x="2863290" y="591067"/>
                    <a:pt x="2889587" y="579094"/>
                    <a:pt x="2917238" y="579095"/>
                  </a:cubicBezTo>
                  <a:lnTo>
                    <a:pt x="3025984" y="579095"/>
                  </a:lnTo>
                  <a:cubicBezTo>
                    <a:pt x="3078782" y="579095"/>
                    <a:pt x="3121583" y="536294"/>
                    <a:pt x="3121583" y="483497"/>
                  </a:cubicBezTo>
                  <a:lnTo>
                    <a:pt x="3121583" y="95598"/>
                  </a:lnTo>
                  <a:cubicBezTo>
                    <a:pt x="3121583" y="42801"/>
                    <a:pt x="3078782" y="0"/>
                    <a:pt x="302598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10111" r="0" b="-189483"/>
              </a:stretch>
            </a:blipFill>
            <a:ln w="76200" cap="sq">
              <a:solidFill>
                <a:srgbClr val="8B43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057143" y="1385593"/>
            <a:ext cx="8594115" cy="3162456"/>
            <a:chOff x="0" y="0"/>
            <a:chExt cx="2133220" cy="7849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3220" cy="784981"/>
            </a:xfrm>
            <a:custGeom>
              <a:avLst/>
              <a:gdLst/>
              <a:ahLst/>
              <a:cxnLst/>
              <a:rect r="r" b="b" t="t" l="l"/>
              <a:pathLst>
                <a:path h="784981" w="2133220">
                  <a:moveTo>
                    <a:pt x="31529" y="0"/>
                  </a:moveTo>
                  <a:lnTo>
                    <a:pt x="2101690" y="0"/>
                  </a:lnTo>
                  <a:cubicBezTo>
                    <a:pt x="2119103" y="0"/>
                    <a:pt x="2133220" y="14116"/>
                    <a:pt x="2133220" y="31529"/>
                  </a:cubicBezTo>
                  <a:lnTo>
                    <a:pt x="2133220" y="753451"/>
                  </a:lnTo>
                  <a:cubicBezTo>
                    <a:pt x="2133220" y="770864"/>
                    <a:pt x="2119103" y="784981"/>
                    <a:pt x="2101690" y="784981"/>
                  </a:cubicBezTo>
                  <a:lnTo>
                    <a:pt x="31529" y="784981"/>
                  </a:lnTo>
                  <a:cubicBezTo>
                    <a:pt x="14116" y="784981"/>
                    <a:pt x="0" y="770864"/>
                    <a:pt x="0" y="753451"/>
                  </a:cubicBezTo>
                  <a:lnTo>
                    <a:pt x="0" y="31529"/>
                  </a:lnTo>
                  <a:cubicBezTo>
                    <a:pt x="0" y="14116"/>
                    <a:pt x="14116" y="0"/>
                    <a:pt x="31529" y="0"/>
                  </a:cubicBezTo>
                  <a:close/>
                </a:path>
              </a:pathLst>
            </a:custGeom>
            <a:solidFill>
              <a:srgbClr val="F2CBCC"/>
            </a:solidFill>
            <a:ln w="76200" cap="rnd">
              <a:solidFill>
                <a:srgbClr val="8B43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33220" cy="832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936247" y="3875138"/>
            <a:ext cx="501992" cy="501992"/>
          </a:xfrm>
          <a:custGeom>
            <a:avLst/>
            <a:gdLst/>
            <a:ahLst/>
            <a:cxnLst/>
            <a:rect r="r" b="b" t="t" l="l"/>
            <a:pathLst>
              <a:path h="501992" w="501992">
                <a:moveTo>
                  <a:pt x="0" y="0"/>
                </a:moveTo>
                <a:lnTo>
                  <a:pt x="501992" y="0"/>
                </a:lnTo>
                <a:lnTo>
                  <a:pt x="501992" y="501992"/>
                </a:lnTo>
                <a:lnTo>
                  <a:pt x="0" y="5019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194675">
            <a:off x="15681069" y="-103493"/>
            <a:ext cx="2903486" cy="1430627"/>
          </a:xfrm>
          <a:custGeom>
            <a:avLst/>
            <a:gdLst/>
            <a:ahLst/>
            <a:cxnLst/>
            <a:rect r="r" b="b" t="t" l="l"/>
            <a:pathLst>
              <a:path h="1430627" w="2903486">
                <a:moveTo>
                  <a:pt x="0" y="0"/>
                </a:moveTo>
                <a:lnTo>
                  <a:pt x="2903486" y="0"/>
                </a:lnTo>
                <a:lnTo>
                  <a:pt x="2903486" y="1430627"/>
                </a:lnTo>
                <a:lnTo>
                  <a:pt x="0" y="14306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01692">
            <a:off x="1368964" y="8468660"/>
            <a:ext cx="1568170" cy="947293"/>
          </a:xfrm>
          <a:custGeom>
            <a:avLst/>
            <a:gdLst/>
            <a:ahLst/>
            <a:cxnLst/>
            <a:rect r="r" b="b" t="t" l="l"/>
            <a:pathLst>
              <a:path h="947293" w="1568170">
                <a:moveTo>
                  <a:pt x="0" y="0"/>
                </a:moveTo>
                <a:lnTo>
                  <a:pt x="1568170" y="0"/>
                </a:lnTo>
                <a:lnTo>
                  <a:pt x="1568170" y="947293"/>
                </a:lnTo>
                <a:lnTo>
                  <a:pt x="0" y="9472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638875">
            <a:off x="-201501" y="324996"/>
            <a:ext cx="1574766" cy="2335870"/>
          </a:xfrm>
          <a:custGeom>
            <a:avLst/>
            <a:gdLst/>
            <a:ahLst/>
            <a:cxnLst/>
            <a:rect r="r" b="b" t="t" l="l"/>
            <a:pathLst>
              <a:path h="2335870" w="1574766">
                <a:moveTo>
                  <a:pt x="0" y="0"/>
                </a:moveTo>
                <a:lnTo>
                  <a:pt x="1574766" y="0"/>
                </a:lnTo>
                <a:lnTo>
                  <a:pt x="1574766" y="2335870"/>
                </a:lnTo>
                <a:lnTo>
                  <a:pt x="0" y="23358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945036">
            <a:off x="16013757" y="8753204"/>
            <a:ext cx="1613847" cy="1913652"/>
          </a:xfrm>
          <a:custGeom>
            <a:avLst/>
            <a:gdLst/>
            <a:ahLst/>
            <a:cxnLst/>
            <a:rect r="r" b="b" t="t" l="l"/>
            <a:pathLst>
              <a:path h="1913652" w="1613847">
                <a:moveTo>
                  <a:pt x="0" y="0"/>
                </a:moveTo>
                <a:lnTo>
                  <a:pt x="1613846" y="0"/>
                </a:lnTo>
                <a:lnTo>
                  <a:pt x="1613846" y="1913653"/>
                </a:lnTo>
                <a:lnTo>
                  <a:pt x="0" y="1913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0728411">
            <a:off x="7206282" y="683627"/>
            <a:ext cx="1142484" cy="690147"/>
          </a:xfrm>
          <a:custGeom>
            <a:avLst/>
            <a:gdLst/>
            <a:ahLst/>
            <a:cxnLst/>
            <a:rect r="r" b="b" t="t" l="l"/>
            <a:pathLst>
              <a:path h="690147" w="1142484">
                <a:moveTo>
                  <a:pt x="0" y="0"/>
                </a:moveTo>
                <a:lnTo>
                  <a:pt x="1142484" y="0"/>
                </a:lnTo>
                <a:lnTo>
                  <a:pt x="1142484" y="690146"/>
                </a:lnTo>
                <a:lnTo>
                  <a:pt x="0" y="6901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36741" y="2396882"/>
            <a:ext cx="6529840" cy="176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Solução</a:t>
            </a: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 Desenvolvida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55828" y="1627580"/>
            <a:ext cx="8082411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Como res</a:t>
            </a: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ultado do trabalho, foi projetado um sistema web para gestão de pedidos e organização da produção da confeitaria. A solução foi desenvolvida utilizando tecnologias modernas como React, TypeScript, Node.js, Prisma e Supabase. O principal objetivo do sistema é automatizar processos que antes eram realizados manualmente, aumentando a eficiência operacional e reduzindo os riscos associados ao controle informal das informações.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81952" y="6236577"/>
            <a:ext cx="7038823" cy="4691076"/>
            <a:chOff x="0" y="0"/>
            <a:chExt cx="1747167" cy="1164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7167" cy="1164412"/>
            </a:xfrm>
            <a:custGeom>
              <a:avLst/>
              <a:gdLst/>
              <a:ahLst/>
              <a:cxnLst/>
              <a:rect r="r" b="b" t="t" l="l"/>
              <a:pathLst>
                <a:path h="1164412" w="1747167">
                  <a:moveTo>
                    <a:pt x="38496" y="0"/>
                  </a:moveTo>
                  <a:lnTo>
                    <a:pt x="1708671" y="0"/>
                  </a:lnTo>
                  <a:cubicBezTo>
                    <a:pt x="1718881" y="0"/>
                    <a:pt x="1728672" y="4056"/>
                    <a:pt x="1735892" y="11275"/>
                  </a:cubicBezTo>
                  <a:cubicBezTo>
                    <a:pt x="1743111" y="18495"/>
                    <a:pt x="1747167" y="28286"/>
                    <a:pt x="1747167" y="38496"/>
                  </a:cubicBezTo>
                  <a:lnTo>
                    <a:pt x="1747167" y="1125916"/>
                  </a:lnTo>
                  <a:cubicBezTo>
                    <a:pt x="1747167" y="1136126"/>
                    <a:pt x="1743111" y="1145918"/>
                    <a:pt x="1735892" y="1153137"/>
                  </a:cubicBezTo>
                  <a:cubicBezTo>
                    <a:pt x="1728672" y="1160356"/>
                    <a:pt x="1718881" y="1164412"/>
                    <a:pt x="1708671" y="1164412"/>
                  </a:cubicBezTo>
                  <a:lnTo>
                    <a:pt x="38496" y="1164412"/>
                  </a:lnTo>
                  <a:cubicBezTo>
                    <a:pt x="28286" y="1164412"/>
                    <a:pt x="18495" y="1160356"/>
                    <a:pt x="11275" y="1153137"/>
                  </a:cubicBezTo>
                  <a:cubicBezTo>
                    <a:pt x="4056" y="1145918"/>
                    <a:pt x="0" y="1136126"/>
                    <a:pt x="0" y="1125916"/>
                  </a:cubicBezTo>
                  <a:lnTo>
                    <a:pt x="0" y="38496"/>
                  </a:lnTo>
                  <a:cubicBezTo>
                    <a:pt x="0" y="28286"/>
                    <a:pt x="4056" y="18495"/>
                    <a:pt x="11275" y="11275"/>
                  </a:cubicBezTo>
                  <a:cubicBezTo>
                    <a:pt x="18495" y="4056"/>
                    <a:pt x="28286" y="0"/>
                    <a:pt x="38496" y="0"/>
                  </a:cubicBezTo>
                  <a:close/>
                </a:path>
              </a:pathLst>
            </a:custGeom>
            <a:solidFill>
              <a:srgbClr val="F2CBCC"/>
            </a:solidFill>
            <a:ln w="76200" cap="rnd">
              <a:solidFill>
                <a:srgbClr val="8B433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47167" cy="121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61263" y="2013959"/>
            <a:ext cx="7215628" cy="3655261"/>
            <a:chOff x="0" y="0"/>
            <a:chExt cx="1700157" cy="8612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0160" cy="861258"/>
            </a:xfrm>
            <a:custGeom>
              <a:avLst/>
              <a:gdLst/>
              <a:ahLst/>
              <a:cxnLst/>
              <a:rect r="r" b="b" t="t" l="l"/>
              <a:pathLst>
                <a:path h="861258" w="1700160">
                  <a:moveTo>
                    <a:pt x="1353201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51744" y="861258"/>
                  </a:lnTo>
                  <a:cubicBezTo>
                    <a:pt x="1591106" y="861258"/>
                    <a:pt x="1628856" y="845622"/>
                    <a:pt x="1656690" y="817789"/>
                  </a:cubicBezTo>
                  <a:cubicBezTo>
                    <a:pt x="1684523" y="789956"/>
                    <a:pt x="1700160" y="752206"/>
                    <a:pt x="1700160" y="712843"/>
                  </a:cubicBezTo>
                  <a:lnTo>
                    <a:pt x="1700160" y="366141"/>
                  </a:lnTo>
                  <a:cubicBezTo>
                    <a:pt x="1700160" y="329143"/>
                    <a:pt x="1686341" y="293478"/>
                    <a:pt x="1661411" y="266140"/>
                  </a:cubicBezTo>
                  <a:lnTo>
                    <a:pt x="1462868" y="48414"/>
                  </a:lnTo>
                  <a:cubicBezTo>
                    <a:pt x="1434745" y="17574"/>
                    <a:pt x="1394938" y="0"/>
                    <a:pt x="135320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99001" r="0" b="-97290"/>
              </a:stretch>
            </a:blipFill>
            <a:ln w="76200" cap="sq">
              <a:solidFill>
                <a:srgbClr val="8B4338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411110" y="2013959"/>
            <a:ext cx="7215628" cy="3655261"/>
            <a:chOff x="0" y="0"/>
            <a:chExt cx="1700157" cy="8612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0160" cy="861258"/>
            </a:xfrm>
            <a:custGeom>
              <a:avLst/>
              <a:gdLst/>
              <a:ahLst/>
              <a:cxnLst/>
              <a:rect r="r" b="b" t="t" l="l"/>
              <a:pathLst>
                <a:path h="861258" w="1700160">
                  <a:moveTo>
                    <a:pt x="1353201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51744" y="861258"/>
                  </a:lnTo>
                  <a:cubicBezTo>
                    <a:pt x="1591106" y="861258"/>
                    <a:pt x="1628856" y="845622"/>
                    <a:pt x="1656690" y="817789"/>
                  </a:cubicBezTo>
                  <a:cubicBezTo>
                    <a:pt x="1684523" y="789956"/>
                    <a:pt x="1700160" y="752206"/>
                    <a:pt x="1700160" y="712843"/>
                  </a:cubicBezTo>
                  <a:lnTo>
                    <a:pt x="1700160" y="366141"/>
                  </a:lnTo>
                  <a:cubicBezTo>
                    <a:pt x="1700160" y="329143"/>
                    <a:pt x="1686341" y="293478"/>
                    <a:pt x="1661411" y="266140"/>
                  </a:cubicBezTo>
                  <a:lnTo>
                    <a:pt x="1462868" y="48414"/>
                  </a:lnTo>
                  <a:cubicBezTo>
                    <a:pt x="1434745" y="17574"/>
                    <a:pt x="1394938" y="0"/>
                    <a:pt x="1353201" y="0"/>
                  </a:cubicBezTo>
                  <a:close/>
                </a:path>
              </a:pathLst>
            </a:custGeom>
            <a:blipFill>
              <a:blip r:embed="rId3"/>
              <a:stretch>
                <a:fillRect l="-16246" t="0" r="-13744" b="0"/>
              </a:stretch>
            </a:blipFill>
            <a:ln w="76200" cap="sq">
              <a:solidFill>
                <a:srgbClr val="8B4338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411110" y="1985693"/>
            <a:ext cx="7215628" cy="3655261"/>
            <a:chOff x="0" y="0"/>
            <a:chExt cx="1700157" cy="8612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0160" cy="861258"/>
            </a:xfrm>
            <a:custGeom>
              <a:avLst/>
              <a:gdLst/>
              <a:ahLst/>
              <a:cxnLst/>
              <a:rect r="r" b="b" t="t" l="l"/>
              <a:pathLst>
                <a:path h="861258" w="1700160">
                  <a:moveTo>
                    <a:pt x="1353201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81866"/>
                  </a:lnTo>
                  <a:cubicBezTo>
                    <a:pt x="0" y="618376"/>
                    <a:pt x="13458" y="653606"/>
                    <a:pt x="37800" y="680818"/>
                  </a:cubicBezTo>
                  <a:lnTo>
                    <a:pt x="154967" y="811794"/>
                  </a:lnTo>
                  <a:cubicBezTo>
                    <a:pt x="183122" y="843269"/>
                    <a:pt x="223353" y="861259"/>
                    <a:pt x="265584" y="861258"/>
                  </a:cubicBezTo>
                  <a:lnTo>
                    <a:pt x="1551744" y="861258"/>
                  </a:lnTo>
                  <a:cubicBezTo>
                    <a:pt x="1591106" y="861258"/>
                    <a:pt x="1628856" y="845622"/>
                    <a:pt x="1656690" y="817789"/>
                  </a:cubicBezTo>
                  <a:cubicBezTo>
                    <a:pt x="1684523" y="789956"/>
                    <a:pt x="1700160" y="752206"/>
                    <a:pt x="1700160" y="712843"/>
                  </a:cubicBezTo>
                  <a:lnTo>
                    <a:pt x="1700160" y="366141"/>
                  </a:lnTo>
                  <a:cubicBezTo>
                    <a:pt x="1700160" y="329143"/>
                    <a:pt x="1686341" y="293478"/>
                    <a:pt x="1661411" y="266140"/>
                  </a:cubicBezTo>
                  <a:lnTo>
                    <a:pt x="1462868" y="48414"/>
                  </a:lnTo>
                  <a:cubicBezTo>
                    <a:pt x="1434745" y="17574"/>
                    <a:pt x="1394938" y="0"/>
                    <a:pt x="135320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7907" r="0" b="-79497"/>
              </a:stretch>
            </a:blipFill>
            <a:ln w="76200" cap="sq">
              <a:solidFill>
                <a:srgbClr val="8B4338"/>
              </a:solidFill>
              <a:prstDash val="solid"/>
              <a:miter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725348">
            <a:off x="1059751" y="8657010"/>
            <a:ext cx="2440661" cy="1202580"/>
          </a:xfrm>
          <a:custGeom>
            <a:avLst/>
            <a:gdLst/>
            <a:ahLst/>
            <a:cxnLst/>
            <a:rect r="r" b="b" t="t" l="l"/>
            <a:pathLst>
              <a:path h="1202580" w="2440661">
                <a:moveTo>
                  <a:pt x="0" y="0"/>
                </a:moveTo>
                <a:lnTo>
                  <a:pt x="2440661" y="0"/>
                </a:lnTo>
                <a:lnTo>
                  <a:pt x="2440661" y="1202580"/>
                </a:lnTo>
                <a:lnTo>
                  <a:pt x="0" y="12025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95263">
            <a:off x="16501043" y="-8192"/>
            <a:ext cx="2822701" cy="1390822"/>
          </a:xfrm>
          <a:custGeom>
            <a:avLst/>
            <a:gdLst/>
            <a:ahLst/>
            <a:cxnLst/>
            <a:rect r="r" b="b" t="t" l="l"/>
            <a:pathLst>
              <a:path h="1390822" w="2822701">
                <a:moveTo>
                  <a:pt x="0" y="0"/>
                </a:moveTo>
                <a:lnTo>
                  <a:pt x="2822701" y="0"/>
                </a:lnTo>
                <a:lnTo>
                  <a:pt x="2822701" y="1390821"/>
                </a:lnTo>
                <a:lnTo>
                  <a:pt x="0" y="1390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628751">
            <a:off x="556958" y="773591"/>
            <a:ext cx="2082255" cy="1756035"/>
          </a:xfrm>
          <a:custGeom>
            <a:avLst/>
            <a:gdLst/>
            <a:ahLst/>
            <a:cxnLst/>
            <a:rect r="r" b="b" t="t" l="l"/>
            <a:pathLst>
              <a:path h="1756035" w="2082255">
                <a:moveTo>
                  <a:pt x="0" y="0"/>
                </a:moveTo>
                <a:lnTo>
                  <a:pt x="2082255" y="0"/>
                </a:lnTo>
                <a:lnTo>
                  <a:pt x="2082255" y="1756035"/>
                </a:lnTo>
                <a:lnTo>
                  <a:pt x="0" y="175603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406805">
            <a:off x="16988768" y="6298992"/>
            <a:ext cx="1574766" cy="2335870"/>
          </a:xfrm>
          <a:custGeom>
            <a:avLst/>
            <a:gdLst/>
            <a:ahLst/>
            <a:cxnLst/>
            <a:rect r="r" b="b" t="t" l="l"/>
            <a:pathLst>
              <a:path h="2335870" w="1574766">
                <a:moveTo>
                  <a:pt x="0" y="0"/>
                </a:moveTo>
                <a:lnTo>
                  <a:pt x="1574766" y="0"/>
                </a:lnTo>
                <a:lnTo>
                  <a:pt x="1574766" y="2335870"/>
                </a:lnTo>
                <a:lnTo>
                  <a:pt x="0" y="23358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1114828">
            <a:off x="8508763" y="-93804"/>
            <a:ext cx="1522954" cy="1215190"/>
          </a:xfrm>
          <a:custGeom>
            <a:avLst/>
            <a:gdLst/>
            <a:ahLst/>
            <a:cxnLst/>
            <a:rect r="r" b="b" t="t" l="l"/>
            <a:pathLst>
              <a:path h="1215190" w="1522954">
                <a:moveTo>
                  <a:pt x="0" y="0"/>
                </a:moveTo>
                <a:lnTo>
                  <a:pt x="1522954" y="0"/>
                </a:lnTo>
                <a:lnTo>
                  <a:pt x="1522954" y="1215190"/>
                </a:lnTo>
                <a:lnTo>
                  <a:pt x="0" y="12151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16652" y="6956257"/>
            <a:ext cx="7660239" cy="176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F</a:t>
            </a: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uncionalidades Principais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88889" y="6549455"/>
            <a:ext cx="6482098" cy="387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O sistema foi dividido em dois pe</a:t>
            </a: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rfis de acesso: cliente e administrador. Para os clientes, foram desenvolvidas funcionalidades como cadastro, login, visualização do catálogo de produtos, carrinho de compras, realização de pedidos e acompanhamento do status das encomendas. Já para a empreendedora, o sistema oferece gerenciamento de produtos, pedidos, categorias, agenda de produção, relatórios gerenciais e dashboards para acompanhamento dos indicadores do negócio.</a:t>
            </a:r>
          </a:p>
          <a:p>
            <a:pPr algn="l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41902" y="1823359"/>
            <a:ext cx="7593493" cy="6010266"/>
            <a:chOff x="0" y="0"/>
            <a:chExt cx="1637768" cy="1296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37770" cy="1296297"/>
            </a:xfrm>
            <a:custGeom>
              <a:avLst/>
              <a:gdLst/>
              <a:ahLst/>
              <a:cxnLst/>
              <a:rect r="r" b="b" t="t" l="l"/>
              <a:pathLst>
                <a:path h="1296297" w="1637770">
                  <a:moveTo>
                    <a:pt x="1290811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1016904"/>
                  </a:lnTo>
                  <a:cubicBezTo>
                    <a:pt x="0" y="1053415"/>
                    <a:pt x="13458" y="1088645"/>
                    <a:pt x="37800" y="1115856"/>
                  </a:cubicBezTo>
                  <a:lnTo>
                    <a:pt x="154967" y="1246833"/>
                  </a:lnTo>
                  <a:cubicBezTo>
                    <a:pt x="183122" y="1278308"/>
                    <a:pt x="223353" y="1296298"/>
                    <a:pt x="265584" y="1296297"/>
                  </a:cubicBezTo>
                  <a:lnTo>
                    <a:pt x="1489354" y="1296297"/>
                  </a:lnTo>
                  <a:cubicBezTo>
                    <a:pt x="1528716" y="1296297"/>
                    <a:pt x="1566467" y="1280661"/>
                    <a:pt x="1594300" y="1252828"/>
                  </a:cubicBezTo>
                  <a:cubicBezTo>
                    <a:pt x="1622134" y="1224994"/>
                    <a:pt x="1637770" y="1187244"/>
                    <a:pt x="1637770" y="1147882"/>
                  </a:cubicBezTo>
                  <a:lnTo>
                    <a:pt x="1637770" y="366141"/>
                  </a:lnTo>
                  <a:cubicBezTo>
                    <a:pt x="1637771" y="329143"/>
                    <a:pt x="1623951" y="293478"/>
                    <a:pt x="1599021" y="266140"/>
                  </a:cubicBezTo>
                  <a:lnTo>
                    <a:pt x="1400478" y="48414"/>
                  </a:lnTo>
                  <a:cubicBezTo>
                    <a:pt x="1372356" y="17574"/>
                    <a:pt x="1332548" y="0"/>
                    <a:pt x="1290811" y="0"/>
                  </a:cubicBezTo>
                  <a:close/>
                </a:path>
              </a:pathLst>
            </a:custGeom>
            <a:blipFill>
              <a:blip r:embed="rId2"/>
              <a:stretch>
                <a:fillRect l="-29876" t="0" r="-9288" b="0"/>
              </a:stretch>
            </a:blipFill>
            <a:ln w="76200" cap="sq">
              <a:solidFill>
                <a:srgbClr val="8B43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07981" y="5054357"/>
            <a:ext cx="8760774" cy="3295187"/>
            <a:chOff x="0" y="0"/>
            <a:chExt cx="2174587" cy="8179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4587" cy="817927"/>
            </a:xfrm>
            <a:custGeom>
              <a:avLst/>
              <a:gdLst/>
              <a:ahLst/>
              <a:cxnLst/>
              <a:rect r="r" b="b" t="t" l="l"/>
              <a:pathLst>
                <a:path h="817927" w="2174587">
                  <a:moveTo>
                    <a:pt x="30930" y="0"/>
                  </a:moveTo>
                  <a:lnTo>
                    <a:pt x="2143658" y="0"/>
                  </a:lnTo>
                  <a:cubicBezTo>
                    <a:pt x="2160740" y="0"/>
                    <a:pt x="2174587" y="13848"/>
                    <a:pt x="2174587" y="30930"/>
                  </a:cubicBezTo>
                  <a:lnTo>
                    <a:pt x="2174587" y="786997"/>
                  </a:lnTo>
                  <a:cubicBezTo>
                    <a:pt x="2174587" y="804079"/>
                    <a:pt x="2160740" y="817927"/>
                    <a:pt x="2143658" y="817927"/>
                  </a:cubicBezTo>
                  <a:lnTo>
                    <a:pt x="30930" y="817927"/>
                  </a:lnTo>
                  <a:cubicBezTo>
                    <a:pt x="13848" y="817927"/>
                    <a:pt x="0" y="804079"/>
                    <a:pt x="0" y="786997"/>
                  </a:cubicBezTo>
                  <a:lnTo>
                    <a:pt x="0" y="30930"/>
                  </a:lnTo>
                  <a:cubicBezTo>
                    <a:pt x="0" y="13848"/>
                    <a:pt x="13848" y="0"/>
                    <a:pt x="30930" y="0"/>
                  </a:cubicBezTo>
                  <a:close/>
                </a:path>
              </a:pathLst>
            </a:custGeom>
            <a:solidFill>
              <a:srgbClr val="F2CBCC"/>
            </a:solidFill>
            <a:ln w="76200" cap="rnd">
              <a:solidFill>
                <a:srgbClr val="8B43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74587" cy="865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7378" y="5297035"/>
            <a:ext cx="7827877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Ant</a:t>
            </a: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es do desenvolvimento da aplicação, foram criados protótipos navegáveis no Figma para validar a experiência dos usuários e o fluxo das funcionalidades. Foram modeladas telas de login, cadastro, catálogo de produtos, carrinho de compras, gerenciamento de pedidos, agenda em formato de calendário e dashboards administrativos. Esses protótipos permitiram visualizar de forma prática como o sistema resolveria os problemas identificados durante a análise inicial.</a:t>
            </a:r>
          </a:p>
          <a:p>
            <a:pPr algn="l" marL="0" indent="0" lvl="0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51810" y="1596664"/>
            <a:ext cx="365847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Protótip</a:t>
            </a:r>
            <a:r>
              <a:rPr lang="en-US" sz="24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os 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10737998">
            <a:off x="6148541" y="721277"/>
            <a:ext cx="1505538" cy="909459"/>
          </a:xfrm>
          <a:custGeom>
            <a:avLst/>
            <a:gdLst/>
            <a:ahLst/>
            <a:cxnLst/>
            <a:rect r="r" b="b" t="t" l="l"/>
            <a:pathLst>
              <a:path h="909459" w="1505538">
                <a:moveTo>
                  <a:pt x="0" y="0"/>
                </a:moveTo>
                <a:lnTo>
                  <a:pt x="1505537" y="0"/>
                </a:lnTo>
                <a:lnTo>
                  <a:pt x="1505537" y="909459"/>
                </a:lnTo>
                <a:lnTo>
                  <a:pt x="0" y="9094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79102" y="8810140"/>
            <a:ext cx="1483788" cy="896320"/>
          </a:xfrm>
          <a:custGeom>
            <a:avLst/>
            <a:gdLst/>
            <a:ahLst/>
            <a:cxnLst/>
            <a:rect r="r" b="b" t="t" l="l"/>
            <a:pathLst>
              <a:path h="896320" w="1483788">
                <a:moveTo>
                  <a:pt x="0" y="0"/>
                </a:moveTo>
                <a:lnTo>
                  <a:pt x="1483788" y="0"/>
                </a:lnTo>
                <a:lnTo>
                  <a:pt x="1483788" y="896320"/>
                </a:lnTo>
                <a:lnTo>
                  <a:pt x="0" y="896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108888">
            <a:off x="-641354" y="1305041"/>
            <a:ext cx="2099998" cy="2191302"/>
          </a:xfrm>
          <a:custGeom>
            <a:avLst/>
            <a:gdLst/>
            <a:ahLst/>
            <a:cxnLst/>
            <a:rect r="r" b="b" t="t" l="l"/>
            <a:pathLst>
              <a:path h="2191302" w="2099998">
                <a:moveTo>
                  <a:pt x="0" y="0"/>
                </a:moveTo>
                <a:lnTo>
                  <a:pt x="2099998" y="0"/>
                </a:lnTo>
                <a:lnTo>
                  <a:pt x="2099998" y="2191301"/>
                </a:lnTo>
                <a:lnTo>
                  <a:pt x="0" y="21913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659522">
            <a:off x="4064924" y="8721241"/>
            <a:ext cx="2263787" cy="1970438"/>
          </a:xfrm>
          <a:custGeom>
            <a:avLst/>
            <a:gdLst/>
            <a:ahLst/>
            <a:cxnLst/>
            <a:rect r="r" b="b" t="t" l="l"/>
            <a:pathLst>
              <a:path h="1970438" w="2263787">
                <a:moveTo>
                  <a:pt x="0" y="0"/>
                </a:moveTo>
                <a:lnTo>
                  <a:pt x="2263786" y="0"/>
                </a:lnTo>
                <a:lnTo>
                  <a:pt x="2263786" y="1970438"/>
                </a:lnTo>
                <a:lnTo>
                  <a:pt x="0" y="19704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461155">
            <a:off x="16191736" y="461120"/>
            <a:ext cx="1492587" cy="1429774"/>
          </a:xfrm>
          <a:custGeom>
            <a:avLst/>
            <a:gdLst/>
            <a:ahLst/>
            <a:cxnLst/>
            <a:rect r="r" b="b" t="t" l="l"/>
            <a:pathLst>
              <a:path h="1429774" w="1492587">
                <a:moveTo>
                  <a:pt x="0" y="0"/>
                </a:moveTo>
                <a:lnTo>
                  <a:pt x="1492588" y="0"/>
                </a:lnTo>
                <a:lnTo>
                  <a:pt x="1492588" y="1429774"/>
                </a:lnTo>
                <a:lnTo>
                  <a:pt x="0" y="14297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51810" y="2319181"/>
            <a:ext cx="7013014" cy="176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D</a:t>
            </a: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emonstração da Solução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741" y="4906607"/>
            <a:ext cx="15014518" cy="3758482"/>
            <a:chOff x="0" y="0"/>
            <a:chExt cx="3121582" cy="7814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21583" cy="781411"/>
            </a:xfrm>
            <a:custGeom>
              <a:avLst/>
              <a:gdLst/>
              <a:ahLst/>
              <a:cxnLst/>
              <a:rect r="r" b="b" t="t" l="l"/>
              <a:pathLst>
                <a:path h="781411" w="3121583">
                  <a:moveTo>
                    <a:pt x="3025984" y="0"/>
                  </a:moveTo>
                  <a:lnTo>
                    <a:pt x="95598" y="0"/>
                  </a:lnTo>
                  <a:cubicBezTo>
                    <a:pt x="42801" y="0"/>
                    <a:pt x="0" y="42801"/>
                    <a:pt x="0" y="95598"/>
                  </a:cubicBezTo>
                  <a:lnTo>
                    <a:pt x="0" y="483490"/>
                  </a:lnTo>
                  <a:cubicBezTo>
                    <a:pt x="0" y="536288"/>
                    <a:pt x="42801" y="579088"/>
                    <a:pt x="95598" y="579088"/>
                  </a:cubicBezTo>
                  <a:lnTo>
                    <a:pt x="204343" y="579088"/>
                  </a:lnTo>
                  <a:cubicBezTo>
                    <a:pt x="231994" y="579088"/>
                    <a:pt x="258291" y="591060"/>
                    <a:pt x="276447" y="611915"/>
                  </a:cubicBezTo>
                  <a:lnTo>
                    <a:pt x="395420" y="748576"/>
                  </a:lnTo>
                  <a:cubicBezTo>
                    <a:pt x="413574" y="769435"/>
                    <a:pt x="439871" y="781410"/>
                    <a:pt x="467524" y="781411"/>
                  </a:cubicBezTo>
                  <a:lnTo>
                    <a:pt x="2654059" y="781411"/>
                  </a:lnTo>
                  <a:cubicBezTo>
                    <a:pt x="2681710" y="781411"/>
                    <a:pt x="2708007" y="769438"/>
                    <a:pt x="2726163" y="748583"/>
                  </a:cubicBezTo>
                  <a:lnTo>
                    <a:pt x="2845134" y="611923"/>
                  </a:lnTo>
                  <a:cubicBezTo>
                    <a:pt x="2863290" y="591067"/>
                    <a:pt x="2889587" y="579094"/>
                    <a:pt x="2917238" y="579095"/>
                  </a:cubicBezTo>
                  <a:lnTo>
                    <a:pt x="3025984" y="579095"/>
                  </a:lnTo>
                  <a:cubicBezTo>
                    <a:pt x="3078782" y="579095"/>
                    <a:pt x="3121583" y="536294"/>
                    <a:pt x="3121583" y="483497"/>
                  </a:cubicBezTo>
                  <a:lnTo>
                    <a:pt x="3121583" y="95598"/>
                  </a:lnTo>
                  <a:cubicBezTo>
                    <a:pt x="3121583" y="42801"/>
                    <a:pt x="3078782" y="0"/>
                    <a:pt x="302598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23781" r="0" b="-75699"/>
              </a:stretch>
            </a:blipFill>
            <a:ln w="76200" cap="sq">
              <a:solidFill>
                <a:srgbClr val="8B433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197491" y="1028700"/>
            <a:ext cx="8453768" cy="3587680"/>
            <a:chOff x="0" y="0"/>
            <a:chExt cx="2098383" cy="8905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98383" cy="890529"/>
            </a:xfrm>
            <a:custGeom>
              <a:avLst/>
              <a:gdLst/>
              <a:ahLst/>
              <a:cxnLst/>
              <a:rect r="r" b="b" t="t" l="l"/>
              <a:pathLst>
                <a:path h="890529" w="2098383">
                  <a:moveTo>
                    <a:pt x="32053" y="0"/>
                  </a:moveTo>
                  <a:lnTo>
                    <a:pt x="2066330" y="0"/>
                  </a:lnTo>
                  <a:cubicBezTo>
                    <a:pt x="2074831" y="0"/>
                    <a:pt x="2082984" y="3377"/>
                    <a:pt x="2088995" y="9388"/>
                  </a:cubicBezTo>
                  <a:cubicBezTo>
                    <a:pt x="2095006" y="15399"/>
                    <a:pt x="2098383" y="23552"/>
                    <a:pt x="2098383" y="32053"/>
                  </a:cubicBezTo>
                  <a:lnTo>
                    <a:pt x="2098383" y="858476"/>
                  </a:lnTo>
                  <a:cubicBezTo>
                    <a:pt x="2098383" y="866977"/>
                    <a:pt x="2095006" y="875130"/>
                    <a:pt x="2088995" y="881141"/>
                  </a:cubicBezTo>
                  <a:cubicBezTo>
                    <a:pt x="2082984" y="887152"/>
                    <a:pt x="2074831" y="890529"/>
                    <a:pt x="2066330" y="890529"/>
                  </a:cubicBezTo>
                  <a:lnTo>
                    <a:pt x="32053" y="890529"/>
                  </a:lnTo>
                  <a:cubicBezTo>
                    <a:pt x="23552" y="890529"/>
                    <a:pt x="15399" y="887152"/>
                    <a:pt x="9388" y="881141"/>
                  </a:cubicBezTo>
                  <a:cubicBezTo>
                    <a:pt x="3377" y="875130"/>
                    <a:pt x="0" y="866977"/>
                    <a:pt x="0" y="858476"/>
                  </a:cubicBezTo>
                  <a:lnTo>
                    <a:pt x="0" y="32053"/>
                  </a:lnTo>
                  <a:cubicBezTo>
                    <a:pt x="0" y="23552"/>
                    <a:pt x="3377" y="15399"/>
                    <a:pt x="9388" y="9388"/>
                  </a:cubicBezTo>
                  <a:cubicBezTo>
                    <a:pt x="15399" y="3377"/>
                    <a:pt x="23552" y="0"/>
                    <a:pt x="32053" y="0"/>
                  </a:cubicBezTo>
                  <a:close/>
                </a:path>
              </a:pathLst>
            </a:custGeom>
            <a:solidFill>
              <a:srgbClr val="F2CBCC"/>
            </a:solidFill>
            <a:ln w="76200" cap="rnd">
              <a:solidFill>
                <a:srgbClr val="8B4338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098383" cy="938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956516" y="3989317"/>
            <a:ext cx="501992" cy="501992"/>
          </a:xfrm>
          <a:custGeom>
            <a:avLst/>
            <a:gdLst/>
            <a:ahLst/>
            <a:cxnLst/>
            <a:rect r="r" b="b" t="t" l="l"/>
            <a:pathLst>
              <a:path h="501992" w="501992">
                <a:moveTo>
                  <a:pt x="0" y="0"/>
                </a:moveTo>
                <a:lnTo>
                  <a:pt x="501992" y="0"/>
                </a:lnTo>
                <a:lnTo>
                  <a:pt x="501992" y="501992"/>
                </a:lnTo>
                <a:lnTo>
                  <a:pt x="0" y="5019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394241" y="1174278"/>
            <a:ext cx="8193618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o Planejamento Estratégico de Tecnologia da Informação, foi definido que a tecnologia deveria atuar como suporte ao crescimento e à organização do negócio. Dessa forma, a solução foi alinhada aos objetivos estratégicos da empresa, buscando melhorar o controle dos pedidos, otimizar a produção e fornecer informações para a tomada de decisão. Em relação à Governança de TI, foram considerados aspectos como segurança da informação, controle de acesso por perfil de usuário, conformidade com a LGPD e proteção dos dados dos clientes.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6194675">
            <a:off x="15681069" y="-103493"/>
            <a:ext cx="2903486" cy="1430627"/>
          </a:xfrm>
          <a:custGeom>
            <a:avLst/>
            <a:gdLst/>
            <a:ahLst/>
            <a:cxnLst/>
            <a:rect r="r" b="b" t="t" l="l"/>
            <a:pathLst>
              <a:path h="1430627" w="2903486">
                <a:moveTo>
                  <a:pt x="0" y="0"/>
                </a:moveTo>
                <a:lnTo>
                  <a:pt x="2903486" y="0"/>
                </a:lnTo>
                <a:lnTo>
                  <a:pt x="2903486" y="1430627"/>
                </a:lnTo>
                <a:lnTo>
                  <a:pt x="0" y="143062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01692">
            <a:off x="1368964" y="8468660"/>
            <a:ext cx="1568170" cy="947293"/>
          </a:xfrm>
          <a:custGeom>
            <a:avLst/>
            <a:gdLst/>
            <a:ahLst/>
            <a:cxnLst/>
            <a:rect r="r" b="b" t="t" l="l"/>
            <a:pathLst>
              <a:path h="947293" w="1568170">
                <a:moveTo>
                  <a:pt x="0" y="0"/>
                </a:moveTo>
                <a:lnTo>
                  <a:pt x="1568170" y="0"/>
                </a:lnTo>
                <a:lnTo>
                  <a:pt x="1568170" y="947293"/>
                </a:lnTo>
                <a:lnTo>
                  <a:pt x="0" y="9472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638875">
            <a:off x="-201501" y="324996"/>
            <a:ext cx="1574766" cy="2335870"/>
          </a:xfrm>
          <a:custGeom>
            <a:avLst/>
            <a:gdLst/>
            <a:ahLst/>
            <a:cxnLst/>
            <a:rect r="r" b="b" t="t" l="l"/>
            <a:pathLst>
              <a:path h="2335870" w="1574766">
                <a:moveTo>
                  <a:pt x="0" y="0"/>
                </a:moveTo>
                <a:lnTo>
                  <a:pt x="1574766" y="0"/>
                </a:lnTo>
                <a:lnTo>
                  <a:pt x="1574766" y="2335870"/>
                </a:lnTo>
                <a:lnTo>
                  <a:pt x="0" y="23358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45036">
            <a:off x="16013757" y="8753204"/>
            <a:ext cx="1613847" cy="1913652"/>
          </a:xfrm>
          <a:custGeom>
            <a:avLst/>
            <a:gdLst/>
            <a:ahLst/>
            <a:cxnLst/>
            <a:rect r="r" b="b" t="t" l="l"/>
            <a:pathLst>
              <a:path h="1913652" w="1613847">
                <a:moveTo>
                  <a:pt x="0" y="0"/>
                </a:moveTo>
                <a:lnTo>
                  <a:pt x="1613846" y="0"/>
                </a:lnTo>
                <a:lnTo>
                  <a:pt x="1613846" y="1913653"/>
                </a:lnTo>
                <a:lnTo>
                  <a:pt x="0" y="19136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728411">
            <a:off x="7047945" y="683627"/>
            <a:ext cx="1142484" cy="690147"/>
          </a:xfrm>
          <a:custGeom>
            <a:avLst/>
            <a:gdLst/>
            <a:ahLst/>
            <a:cxnLst/>
            <a:rect r="r" b="b" t="t" l="l"/>
            <a:pathLst>
              <a:path h="690147" w="1142484">
                <a:moveTo>
                  <a:pt x="0" y="0"/>
                </a:moveTo>
                <a:lnTo>
                  <a:pt x="1142485" y="0"/>
                </a:lnTo>
                <a:lnTo>
                  <a:pt x="1142485" y="690146"/>
                </a:lnTo>
                <a:lnTo>
                  <a:pt x="0" y="6901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76437" y="2681012"/>
            <a:ext cx="6021054" cy="176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Gov</a:t>
            </a: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ernança de TI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76437" y="1800168"/>
            <a:ext cx="3658477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PETI 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23106" y="3325402"/>
            <a:ext cx="11041788" cy="5789673"/>
            <a:chOff x="0" y="0"/>
            <a:chExt cx="2908125" cy="15248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8125" cy="1524852"/>
            </a:xfrm>
            <a:custGeom>
              <a:avLst/>
              <a:gdLst/>
              <a:ahLst/>
              <a:cxnLst/>
              <a:rect r="r" b="b" t="t" l="l"/>
              <a:pathLst>
                <a:path h="1524852" w="2908125">
                  <a:moveTo>
                    <a:pt x="35759" y="0"/>
                  </a:moveTo>
                  <a:lnTo>
                    <a:pt x="2872367" y="0"/>
                  </a:lnTo>
                  <a:cubicBezTo>
                    <a:pt x="2892116" y="0"/>
                    <a:pt x="2908125" y="16010"/>
                    <a:pt x="2908125" y="35759"/>
                  </a:cubicBezTo>
                  <a:lnTo>
                    <a:pt x="2908125" y="1489094"/>
                  </a:lnTo>
                  <a:cubicBezTo>
                    <a:pt x="2908125" y="1508842"/>
                    <a:pt x="2892116" y="1524852"/>
                    <a:pt x="2872367" y="1524852"/>
                  </a:cubicBezTo>
                  <a:lnTo>
                    <a:pt x="35759" y="1524852"/>
                  </a:lnTo>
                  <a:cubicBezTo>
                    <a:pt x="16010" y="1524852"/>
                    <a:pt x="0" y="1508842"/>
                    <a:pt x="0" y="1489094"/>
                  </a:cubicBezTo>
                  <a:lnTo>
                    <a:pt x="0" y="35759"/>
                  </a:lnTo>
                  <a:cubicBezTo>
                    <a:pt x="0" y="16010"/>
                    <a:pt x="16010" y="0"/>
                    <a:pt x="35759" y="0"/>
                  </a:cubicBezTo>
                  <a:close/>
                </a:path>
              </a:pathLst>
            </a:custGeom>
            <a:solidFill>
              <a:srgbClr val="BF7070"/>
            </a:solidFill>
            <a:ln w="66675" cap="rnd">
              <a:solidFill>
                <a:srgbClr val="8B433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08125" cy="1562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967908" y="-405612"/>
            <a:ext cx="20834461" cy="1628876"/>
          </a:xfrm>
          <a:custGeom>
            <a:avLst/>
            <a:gdLst/>
            <a:ahLst/>
            <a:cxnLst/>
            <a:rect r="r" b="b" t="t" l="l"/>
            <a:pathLst>
              <a:path h="1628876" w="20834461">
                <a:moveTo>
                  <a:pt x="0" y="0"/>
                </a:moveTo>
                <a:lnTo>
                  <a:pt x="20834461" y="0"/>
                </a:lnTo>
                <a:lnTo>
                  <a:pt x="20834461" y="1628876"/>
                </a:lnTo>
                <a:lnTo>
                  <a:pt x="0" y="1628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010210" y="3164500"/>
            <a:ext cx="3751681" cy="1848556"/>
          </a:xfrm>
          <a:custGeom>
            <a:avLst/>
            <a:gdLst/>
            <a:ahLst/>
            <a:cxnLst/>
            <a:rect r="r" b="b" t="t" l="l"/>
            <a:pathLst>
              <a:path h="1848556" w="3751681">
                <a:moveTo>
                  <a:pt x="0" y="0"/>
                </a:moveTo>
                <a:lnTo>
                  <a:pt x="3751681" y="0"/>
                </a:lnTo>
                <a:lnTo>
                  <a:pt x="3751681" y="1848555"/>
                </a:lnTo>
                <a:lnTo>
                  <a:pt x="0" y="1848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95263">
            <a:off x="-1510539" y="3201762"/>
            <a:ext cx="3603225" cy="1775407"/>
          </a:xfrm>
          <a:custGeom>
            <a:avLst/>
            <a:gdLst/>
            <a:ahLst/>
            <a:cxnLst/>
            <a:rect r="r" b="b" t="t" l="l"/>
            <a:pathLst>
              <a:path h="1775407" w="3603225">
                <a:moveTo>
                  <a:pt x="0" y="0"/>
                </a:moveTo>
                <a:lnTo>
                  <a:pt x="3603225" y="0"/>
                </a:lnTo>
                <a:lnTo>
                  <a:pt x="3603225" y="1775407"/>
                </a:lnTo>
                <a:lnTo>
                  <a:pt x="0" y="1775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80922" y="2603347"/>
            <a:ext cx="3511060" cy="995864"/>
          </a:xfrm>
          <a:custGeom>
            <a:avLst/>
            <a:gdLst/>
            <a:ahLst/>
            <a:cxnLst/>
            <a:rect r="r" b="b" t="t" l="l"/>
            <a:pathLst>
              <a:path h="995864" w="3511060">
                <a:moveTo>
                  <a:pt x="0" y="0"/>
                </a:moveTo>
                <a:lnTo>
                  <a:pt x="3511060" y="0"/>
                </a:lnTo>
                <a:lnTo>
                  <a:pt x="3511060" y="995865"/>
                </a:lnTo>
                <a:lnTo>
                  <a:pt x="0" y="9958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17492">
            <a:off x="723156" y="7207910"/>
            <a:ext cx="1793573" cy="1690443"/>
          </a:xfrm>
          <a:custGeom>
            <a:avLst/>
            <a:gdLst/>
            <a:ahLst/>
            <a:cxnLst/>
            <a:rect r="r" b="b" t="t" l="l"/>
            <a:pathLst>
              <a:path h="1690443" w="1793573">
                <a:moveTo>
                  <a:pt x="0" y="0"/>
                </a:moveTo>
                <a:lnTo>
                  <a:pt x="1793573" y="0"/>
                </a:lnTo>
                <a:lnTo>
                  <a:pt x="1793573" y="1690443"/>
                </a:lnTo>
                <a:lnTo>
                  <a:pt x="0" y="16904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07005" y="8661814"/>
            <a:ext cx="1273990" cy="1490046"/>
          </a:xfrm>
          <a:custGeom>
            <a:avLst/>
            <a:gdLst/>
            <a:ahLst/>
            <a:cxnLst/>
            <a:rect r="r" b="b" t="t" l="l"/>
            <a:pathLst>
              <a:path h="1490046" w="1273990">
                <a:moveTo>
                  <a:pt x="0" y="0"/>
                </a:moveTo>
                <a:lnTo>
                  <a:pt x="1273990" y="0"/>
                </a:lnTo>
                <a:lnTo>
                  <a:pt x="1273990" y="1490046"/>
                </a:lnTo>
                <a:lnTo>
                  <a:pt x="0" y="14900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473595" y="3679413"/>
            <a:ext cx="9343102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Este projeto permitiu compreender os desa</a:t>
            </a: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fios enfrentados por pequenos empreendimentos e demonstrar como a tecnologia pode contribuir para sua organização e crescimento. A solução desenvolvida resolve o principal problema identificado, que era a ausência de um sistema estruturado para controle de pedidos e produção. Entre os benefícios esperados estão a centralização das informações, a redução de erros operacionais, o melhor gerenciamento da agenda e o apoio à tomada de decisões por meio de relatórios e indicadores.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Firs Neue"/>
                <a:ea typeface="TT Firs Neue"/>
                <a:cs typeface="TT Firs Neue"/>
                <a:sym typeface="TT Firs Neue"/>
              </a:rPr>
              <a:t>Além dos ganhos para a empresa, o desenvolvimento deste projeto proporcionou uma experiência prática importante para a equipe, permitindo aplicar conhecimentos de Inteligência Competitiva, Engenharia de Software, Banco de Dados e Governança de TI em um contexto real. A empreendedora avaliou positivamente a proposta, destacando o potencial da solução para melhorar a organização do negócio e apoiar seu crescimento futuro.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484044" y="7502265"/>
            <a:ext cx="2082255" cy="1756035"/>
          </a:xfrm>
          <a:custGeom>
            <a:avLst/>
            <a:gdLst/>
            <a:ahLst/>
            <a:cxnLst/>
            <a:rect r="r" b="b" t="t" l="l"/>
            <a:pathLst>
              <a:path h="1756035" w="2082255">
                <a:moveTo>
                  <a:pt x="0" y="0"/>
                </a:moveTo>
                <a:lnTo>
                  <a:pt x="2082255" y="0"/>
                </a:lnTo>
                <a:lnTo>
                  <a:pt x="2082255" y="1756035"/>
                </a:lnTo>
                <a:lnTo>
                  <a:pt x="0" y="175603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50382" y="1655366"/>
            <a:ext cx="7660239" cy="176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C</a:t>
            </a:r>
            <a:r>
              <a:rPr lang="en-US" sz="6800">
                <a:solidFill>
                  <a:srgbClr val="8B4338"/>
                </a:solidFill>
                <a:latin typeface="Lovelo"/>
                <a:ea typeface="Lovelo"/>
                <a:cs typeface="Lovelo"/>
                <a:sym typeface="Lovelo"/>
              </a:rPr>
              <a:t>onsiderações Finais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23106" y="2872141"/>
            <a:ext cx="11041788" cy="4670500"/>
            <a:chOff x="0" y="0"/>
            <a:chExt cx="2908125" cy="12300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8125" cy="1230091"/>
            </a:xfrm>
            <a:custGeom>
              <a:avLst/>
              <a:gdLst/>
              <a:ahLst/>
              <a:cxnLst/>
              <a:rect r="r" b="b" t="t" l="l"/>
              <a:pathLst>
                <a:path h="1230091" w="2908125">
                  <a:moveTo>
                    <a:pt x="35759" y="0"/>
                  </a:moveTo>
                  <a:lnTo>
                    <a:pt x="2872367" y="0"/>
                  </a:lnTo>
                  <a:cubicBezTo>
                    <a:pt x="2892116" y="0"/>
                    <a:pt x="2908125" y="16010"/>
                    <a:pt x="2908125" y="35759"/>
                  </a:cubicBezTo>
                  <a:lnTo>
                    <a:pt x="2908125" y="1194332"/>
                  </a:lnTo>
                  <a:cubicBezTo>
                    <a:pt x="2908125" y="1214081"/>
                    <a:pt x="2892116" y="1230091"/>
                    <a:pt x="2872367" y="1230091"/>
                  </a:cubicBezTo>
                  <a:lnTo>
                    <a:pt x="35759" y="1230091"/>
                  </a:lnTo>
                  <a:cubicBezTo>
                    <a:pt x="16010" y="1230091"/>
                    <a:pt x="0" y="1214081"/>
                    <a:pt x="0" y="1194332"/>
                  </a:cubicBezTo>
                  <a:lnTo>
                    <a:pt x="0" y="35759"/>
                  </a:lnTo>
                  <a:cubicBezTo>
                    <a:pt x="0" y="16010"/>
                    <a:pt x="16010" y="0"/>
                    <a:pt x="35759" y="0"/>
                  </a:cubicBezTo>
                  <a:close/>
                </a:path>
              </a:pathLst>
            </a:custGeom>
            <a:solidFill>
              <a:srgbClr val="BF7070"/>
            </a:solidFill>
            <a:ln w="66675" cap="rnd">
              <a:solidFill>
                <a:srgbClr val="8B4338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08125" cy="1268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41069" y="2378694"/>
            <a:ext cx="4205863" cy="1101171"/>
          </a:xfrm>
          <a:custGeom>
            <a:avLst/>
            <a:gdLst/>
            <a:ahLst/>
            <a:cxnLst/>
            <a:rect r="r" b="b" t="t" l="l"/>
            <a:pathLst>
              <a:path h="1101171" w="4205863">
                <a:moveTo>
                  <a:pt x="0" y="0"/>
                </a:moveTo>
                <a:lnTo>
                  <a:pt x="4205862" y="0"/>
                </a:lnTo>
                <a:lnTo>
                  <a:pt x="4205862" y="1101171"/>
                </a:lnTo>
                <a:lnTo>
                  <a:pt x="0" y="1101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88420" y="5136880"/>
            <a:ext cx="9511161" cy="906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OBRIGADO!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967908" y="-405612"/>
            <a:ext cx="20834461" cy="1628876"/>
          </a:xfrm>
          <a:custGeom>
            <a:avLst/>
            <a:gdLst/>
            <a:ahLst/>
            <a:cxnLst/>
            <a:rect r="r" b="b" t="t" l="l"/>
            <a:pathLst>
              <a:path h="1628876" w="20834461">
                <a:moveTo>
                  <a:pt x="0" y="0"/>
                </a:moveTo>
                <a:lnTo>
                  <a:pt x="20834461" y="0"/>
                </a:lnTo>
                <a:lnTo>
                  <a:pt x="20834461" y="1628876"/>
                </a:lnTo>
                <a:lnTo>
                  <a:pt x="0" y="1628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010210" y="3164500"/>
            <a:ext cx="3751681" cy="1848556"/>
          </a:xfrm>
          <a:custGeom>
            <a:avLst/>
            <a:gdLst/>
            <a:ahLst/>
            <a:cxnLst/>
            <a:rect r="r" b="b" t="t" l="l"/>
            <a:pathLst>
              <a:path h="1848556" w="3751681">
                <a:moveTo>
                  <a:pt x="0" y="0"/>
                </a:moveTo>
                <a:lnTo>
                  <a:pt x="3751681" y="0"/>
                </a:lnTo>
                <a:lnTo>
                  <a:pt x="3751681" y="1848555"/>
                </a:lnTo>
                <a:lnTo>
                  <a:pt x="0" y="18485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95263">
            <a:off x="-1510539" y="3201762"/>
            <a:ext cx="3603225" cy="1775407"/>
          </a:xfrm>
          <a:custGeom>
            <a:avLst/>
            <a:gdLst/>
            <a:ahLst/>
            <a:cxnLst/>
            <a:rect r="r" b="b" t="t" l="l"/>
            <a:pathLst>
              <a:path h="1775407" w="3603225">
                <a:moveTo>
                  <a:pt x="0" y="0"/>
                </a:moveTo>
                <a:lnTo>
                  <a:pt x="3603225" y="0"/>
                </a:lnTo>
                <a:lnTo>
                  <a:pt x="3603225" y="1775407"/>
                </a:lnTo>
                <a:lnTo>
                  <a:pt x="0" y="17754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11148">
            <a:off x="13517464" y="5258295"/>
            <a:ext cx="1681098" cy="2493593"/>
          </a:xfrm>
          <a:custGeom>
            <a:avLst/>
            <a:gdLst/>
            <a:ahLst/>
            <a:cxnLst/>
            <a:rect r="r" b="b" t="t" l="l"/>
            <a:pathLst>
              <a:path h="2493593" w="1681098">
                <a:moveTo>
                  <a:pt x="0" y="0"/>
                </a:moveTo>
                <a:lnTo>
                  <a:pt x="1681098" y="0"/>
                </a:lnTo>
                <a:lnTo>
                  <a:pt x="1681098" y="2493594"/>
                </a:lnTo>
                <a:lnTo>
                  <a:pt x="0" y="24935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914584">
            <a:off x="1782411" y="6315910"/>
            <a:ext cx="2263787" cy="1970438"/>
          </a:xfrm>
          <a:custGeom>
            <a:avLst/>
            <a:gdLst/>
            <a:ahLst/>
            <a:cxnLst/>
            <a:rect r="r" b="b" t="t" l="l"/>
            <a:pathLst>
              <a:path h="1970438" w="2263787">
                <a:moveTo>
                  <a:pt x="0" y="0"/>
                </a:moveTo>
                <a:lnTo>
                  <a:pt x="2263787" y="0"/>
                </a:lnTo>
                <a:lnTo>
                  <a:pt x="2263787" y="1970438"/>
                </a:lnTo>
                <a:lnTo>
                  <a:pt x="0" y="1970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96254">
            <a:off x="16603930" y="7802702"/>
            <a:ext cx="2099998" cy="2191302"/>
          </a:xfrm>
          <a:custGeom>
            <a:avLst/>
            <a:gdLst/>
            <a:ahLst/>
            <a:cxnLst/>
            <a:rect r="r" b="b" t="t" l="l"/>
            <a:pathLst>
              <a:path h="2191302" w="2099998">
                <a:moveTo>
                  <a:pt x="0" y="0"/>
                </a:moveTo>
                <a:lnTo>
                  <a:pt x="2099998" y="0"/>
                </a:lnTo>
                <a:lnTo>
                  <a:pt x="2099998" y="2191302"/>
                </a:lnTo>
                <a:lnTo>
                  <a:pt x="0" y="2191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69348">
            <a:off x="6922434" y="7967108"/>
            <a:ext cx="1613847" cy="1913652"/>
          </a:xfrm>
          <a:custGeom>
            <a:avLst/>
            <a:gdLst/>
            <a:ahLst/>
            <a:cxnLst/>
            <a:rect r="r" b="b" t="t" l="l"/>
            <a:pathLst>
              <a:path h="1913652" w="1613847">
                <a:moveTo>
                  <a:pt x="0" y="0"/>
                </a:moveTo>
                <a:lnTo>
                  <a:pt x="1613847" y="0"/>
                </a:lnTo>
                <a:lnTo>
                  <a:pt x="1613847" y="1913652"/>
                </a:lnTo>
                <a:lnTo>
                  <a:pt x="0" y="191365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DAHLdD1keWU</dc:identifier>
  <dcterms:modified xsi:type="dcterms:W3CDTF">2011-08-01T06:04:30Z</dcterms:modified>
  <cp:revision>1</cp:revision>
  <dc:title>TCC</dc:title>
</cp:coreProperties>
</file>